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5" r:id="rId3"/>
    <p:sldId id="263" r:id="rId4"/>
    <p:sldId id="283" r:id="rId5"/>
    <p:sldId id="262" r:id="rId6"/>
    <p:sldId id="279" r:id="rId7"/>
    <p:sldId id="284" r:id="rId8"/>
    <p:sldId id="272" r:id="rId9"/>
    <p:sldId id="280" r:id="rId10"/>
    <p:sldId id="281" r:id="rId11"/>
    <p:sldId id="277" r:id="rId12"/>
    <p:sldId id="28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736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733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198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58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603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86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222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559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913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34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805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7644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5730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878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0932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2866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4511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2ABA9B-657B-4503-BCC7-70B927BED2B1}" type="datetimeFigureOut">
              <a:rPr lang="en-ID" smtClean="0"/>
              <a:t>29/08/2025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E0922-4C33-4CC6-AAE9-916632BCB60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060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3078-3A4A-9C2D-251A-657E9052B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2224" y="1078992"/>
            <a:ext cx="10018776" cy="2249742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 err="1"/>
              <a:t>Sesi</a:t>
            </a:r>
            <a:r>
              <a:rPr lang="en-US" b="1" dirty="0"/>
              <a:t> 3</a:t>
            </a:r>
            <a:br>
              <a:rPr lang="en-US" dirty="0"/>
            </a:br>
            <a:r>
              <a:rPr lang="en-US" dirty="0"/>
              <a:t>MATEMATIKA EKONOMI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B3968-017B-C5AB-7FFE-252D89374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1880" y="4880023"/>
            <a:ext cx="8199120" cy="758182"/>
          </a:xfrm>
        </p:spPr>
        <p:txBody>
          <a:bodyPr>
            <a:noAutofit/>
          </a:bodyPr>
          <a:lstStyle/>
          <a:p>
            <a:pPr algn="r"/>
            <a:r>
              <a:rPr lang="sv-SE" sz="3600" dirty="0"/>
              <a:t>MENGHITUNG BUNGA TUNGGAL</a:t>
            </a:r>
            <a:endParaRPr lang="en-ID" sz="36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2D9F0-A76E-47DD-8A60-091E3890715A}"/>
              </a:ext>
            </a:extLst>
          </p:cNvPr>
          <p:cNvSpPr txBox="1"/>
          <p:nvPr/>
        </p:nvSpPr>
        <p:spPr>
          <a:xfrm>
            <a:off x="3794760" y="3244334"/>
            <a:ext cx="792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Oleh: 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Sandy </a:t>
            </a:r>
            <a:r>
              <a:rPr lang="en-US" sz="28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Muhammadiansyah</a:t>
            </a:r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, S.E., M.M.</a:t>
            </a:r>
            <a:endParaRPr lang="en-ID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5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EE59-AB23-67BF-74B4-4170B209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C0588D4-F8FE-2BE0-DDB8-6B0865DE7658}"/>
              </a:ext>
            </a:extLst>
          </p:cNvPr>
          <p:cNvSpPr txBox="1"/>
          <p:nvPr/>
        </p:nvSpPr>
        <p:spPr>
          <a:xfrm>
            <a:off x="694602" y="185059"/>
            <a:ext cx="111743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Bahnschrift" panose="020B0502040204020203" pitchFamily="34" charset="0"/>
              </a:rPr>
              <a:t>MATERI PERTEMUAN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 : </a:t>
            </a:r>
            <a:r>
              <a:rPr lang="en-US" sz="2400" dirty="0" err="1">
                <a:latin typeface="Bahnschrift SemiLight" panose="020B0502040204020203" pitchFamily="34" charset="0"/>
              </a:rPr>
              <a:t>Konsep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dasar</a:t>
            </a:r>
            <a:r>
              <a:rPr lang="en-US" sz="2400" dirty="0"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latin typeface="Bahnschrift SemiLight" panose="020B0502040204020203" pitchFamily="34" charset="0"/>
              </a:rPr>
              <a:t>sifat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matematika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ekonomi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2 : Barisan &amp; </a:t>
            </a:r>
            <a:r>
              <a:rPr lang="en-US" sz="2400" dirty="0" err="1">
                <a:latin typeface="Bahnschrift SemiLight" panose="020B0502040204020203" pitchFamily="34" charset="0"/>
              </a:rPr>
              <a:t>deret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3 : </a:t>
            </a:r>
            <a:r>
              <a:rPr lang="en-US" sz="2400" dirty="0" err="1">
                <a:latin typeface="Bahnschrift SemiLight" panose="020B0502040204020203" pitchFamily="34" charset="0"/>
              </a:rPr>
              <a:t>Menghitung</a:t>
            </a:r>
            <a:r>
              <a:rPr lang="en-US" sz="2400" dirty="0">
                <a:latin typeface="Bahnschrift SemiLight" panose="020B0502040204020203" pitchFamily="34" charset="0"/>
              </a:rPr>
              <a:t> bunga </a:t>
            </a:r>
            <a:r>
              <a:rPr lang="en-US" sz="2400" dirty="0" err="1">
                <a:latin typeface="Bahnschrift SemiLight" panose="020B0502040204020203" pitchFamily="34" charset="0"/>
              </a:rPr>
              <a:t>tunggal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4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: </a:t>
            </a:r>
            <a:r>
              <a:rPr lang="en-US" sz="2400" dirty="0" err="1">
                <a:latin typeface="Bahnschrift SemiLight" panose="020B0502040204020203" pitchFamily="34" charset="0"/>
              </a:rPr>
              <a:t>Menghitung</a:t>
            </a:r>
            <a:r>
              <a:rPr lang="en-US" sz="2400" dirty="0">
                <a:latin typeface="Bahnschrift SemiLight" panose="020B0502040204020203" pitchFamily="34" charset="0"/>
              </a:rPr>
              <a:t> bunga </a:t>
            </a:r>
            <a:r>
              <a:rPr lang="en-US" sz="2400" dirty="0" err="1">
                <a:latin typeface="Bahnschrift SemiLight" panose="020B0502040204020203" pitchFamily="34" charset="0"/>
              </a:rPr>
              <a:t>majemuk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5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linier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6 : </a:t>
            </a:r>
            <a:r>
              <a:rPr lang="sv-SE" sz="2400" dirty="0">
                <a:latin typeface="Bahnschrift SemiLight" panose="020B0502040204020203" pitchFamily="34" charset="0"/>
              </a:rPr>
              <a:t>Fungsi non linier</a:t>
            </a:r>
          </a:p>
          <a:p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7 : </a:t>
            </a:r>
            <a:r>
              <a:rPr lang="sv-SE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kasus &amp; aplikasi ekonomi</a:t>
            </a:r>
          </a:p>
          <a:p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8 : </a:t>
            </a:r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Ujian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Tengah Semester (UTS)</a:t>
            </a: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9 : Limit</a:t>
            </a:r>
            <a:endParaRPr lang="en-ID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10 : </a:t>
            </a:r>
            <a:r>
              <a:rPr lang="en-US" sz="2400" dirty="0" err="1">
                <a:latin typeface="Bahnschrift SemiLight" panose="020B0502040204020203" pitchFamily="34" charset="0"/>
              </a:rPr>
              <a:t>Diferensial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11 :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kasus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aplikasi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ekonomi</a:t>
            </a:r>
            <a:endParaRPr lang="en-US" sz="2400" dirty="0">
              <a:solidFill>
                <a:srgbClr val="92D050"/>
              </a:solidFill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12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permintaan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13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penawaran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14 : </a:t>
            </a:r>
            <a:r>
              <a:rPr lang="en-US" sz="2400" dirty="0" err="1">
                <a:latin typeface="Bahnschrift SemiLight" panose="020B0502040204020203" pitchFamily="34" charset="0"/>
              </a:rPr>
              <a:t>Fungsi</a:t>
            </a:r>
            <a:r>
              <a:rPr lang="en-US" sz="2400" dirty="0"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latin typeface="Bahnschrift SemiLight" panose="020B0502040204020203" pitchFamily="34" charset="0"/>
              </a:rPr>
              <a:t>konsumsi</a:t>
            </a:r>
            <a:endParaRPr lang="en-US" sz="2400" dirty="0"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latin typeface="Bahnschrift SemiLight" panose="020B0502040204020203" pitchFamily="34" charset="0"/>
              </a:rPr>
              <a:t> 15 : 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Studi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kasus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&amp;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aplikasi</a:t>
            </a:r>
            <a:r>
              <a:rPr lang="en-US" sz="2400" dirty="0">
                <a:solidFill>
                  <a:srgbClr val="92D05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2400" dirty="0" err="1">
                <a:solidFill>
                  <a:srgbClr val="92D050"/>
                </a:solidFill>
                <a:latin typeface="Bahnschrift SemiLight" panose="020B0502040204020203" pitchFamily="34" charset="0"/>
              </a:rPr>
              <a:t>ekonomi</a:t>
            </a:r>
            <a:endParaRPr lang="en-US" sz="2400" dirty="0">
              <a:solidFill>
                <a:srgbClr val="92D050"/>
              </a:solidFill>
              <a:latin typeface="Bahnschrift SemiLight" panose="020B0502040204020203" pitchFamily="34" charset="0"/>
            </a:endParaRPr>
          </a:p>
          <a:p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Pertemuan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16 : </a:t>
            </a:r>
            <a:r>
              <a:rPr lang="en-US" sz="24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Ujian</a:t>
            </a:r>
            <a:r>
              <a:rPr lang="en-US" sz="24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Akhir Semester (UAS)</a:t>
            </a:r>
            <a:endParaRPr lang="sv-SE" sz="2400" dirty="0">
              <a:solidFill>
                <a:srgbClr val="FFFF00"/>
              </a:solidFill>
              <a:latin typeface="Bahnschrift SemiLight" panose="020B0502040204020203" pitchFamily="34" charset="0"/>
            </a:endParaRPr>
          </a:p>
          <a:p>
            <a:endParaRPr lang="en-ID" sz="2400" dirty="0">
              <a:latin typeface="Bahnschrift SemiLight" panose="020B050204020402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B0542C5-8C11-E302-CDEA-F020BE611C1D}"/>
              </a:ext>
            </a:extLst>
          </p:cNvPr>
          <p:cNvSpPr/>
          <p:nvPr/>
        </p:nvSpPr>
        <p:spPr>
          <a:xfrm>
            <a:off x="6464808" y="1426464"/>
            <a:ext cx="219456" cy="219456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233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D3B6A03-74AD-B3C9-45FC-A01DE9050259}"/>
              </a:ext>
            </a:extLst>
          </p:cNvPr>
          <p:cNvSpPr txBox="1"/>
          <p:nvPr/>
        </p:nvSpPr>
        <p:spPr>
          <a:xfrm>
            <a:off x="2076450" y="4897469"/>
            <a:ext cx="80390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ahnschrift SemiLight" panose="020B0502040204020203" pitchFamily="34" charset="0"/>
              </a:rPr>
              <a:t>Bunga bank </a:t>
            </a:r>
            <a:r>
              <a:rPr lang="en-US" sz="3200" dirty="0" err="1">
                <a:latin typeface="Bahnschrift SemiLight" panose="020B0502040204020203" pitchFamily="34" charset="0"/>
              </a:rPr>
              <a:t>bisa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diartikan</a:t>
            </a:r>
            <a:r>
              <a:rPr lang="en-US" sz="3200" dirty="0">
                <a:latin typeface="Bahnschrift SemiLight" panose="020B0502040204020203" pitchFamily="34" charset="0"/>
              </a:rPr>
              <a:t> 2 </a:t>
            </a:r>
            <a:r>
              <a:rPr lang="en-US" sz="3200" dirty="0" err="1">
                <a:latin typeface="Bahnschrift SemiLight" panose="020B0502040204020203" pitchFamily="34" charset="0"/>
              </a:rPr>
              <a:t>hal</a:t>
            </a:r>
            <a:r>
              <a:rPr lang="en-US" sz="3200" dirty="0">
                <a:latin typeface="Bahnschrift SemiLight" panose="020B0502040204020203" pitchFamily="34" charset="0"/>
              </a:rPr>
              <a:t>, </a:t>
            </a:r>
            <a:r>
              <a:rPr lang="en-US" sz="3200" dirty="0" err="1">
                <a:latin typeface="Bahnschrift SemiLight" panose="020B0502040204020203" pitchFamily="34" charset="0"/>
              </a:rPr>
              <a:t>yaitu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solidFill>
                  <a:srgbClr val="FFFF00"/>
                </a:solidFill>
                <a:latin typeface="Bahnschrift SemiLight" panose="020B0502040204020203" pitchFamily="34" charset="0"/>
              </a:rPr>
              <a:t>simpanan</a:t>
            </a:r>
            <a:r>
              <a:rPr lang="en-US" sz="3200" dirty="0">
                <a:solidFill>
                  <a:srgbClr val="FFFF00"/>
                </a:solidFill>
                <a:latin typeface="Bahnschrift SemiLight" panose="020B0502040204020203" pitchFamily="34" charset="0"/>
              </a:rPr>
              <a:t> </a:t>
            </a:r>
            <a:r>
              <a:rPr lang="en-US" sz="3200" dirty="0">
                <a:latin typeface="Bahnschrift SemiLight" panose="020B0502040204020203" pitchFamily="34" charset="0"/>
              </a:rPr>
              <a:t>dan </a:t>
            </a:r>
            <a:r>
              <a:rPr lang="en-US" sz="3200" dirty="0">
                <a:solidFill>
                  <a:srgbClr val="FFC000"/>
                </a:solidFill>
                <a:latin typeface="Bahnschrift SemiLight" panose="020B0502040204020203" pitchFamily="34" charset="0"/>
              </a:rPr>
              <a:t>bunga </a:t>
            </a:r>
            <a:r>
              <a:rPr lang="en-US" sz="3200" dirty="0" err="1">
                <a:solidFill>
                  <a:srgbClr val="FFC000"/>
                </a:solidFill>
                <a:latin typeface="Bahnschrift SemiLight" panose="020B0502040204020203" pitchFamily="34" charset="0"/>
              </a:rPr>
              <a:t>kredit</a:t>
            </a:r>
            <a:endParaRPr lang="en-ID" sz="3200" b="1" dirty="0">
              <a:solidFill>
                <a:srgbClr val="FFC000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0F66E-D1D5-14B4-5E95-D83DC7042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739" y="650331"/>
            <a:ext cx="2820505" cy="373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4E54-737E-46E3-518B-D7BFFBFE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005A-619D-F6A0-8925-E9156BEC0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214446"/>
            <a:ext cx="8951976" cy="1008909"/>
          </a:xfrm>
        </p:spPr>
        <p:txBody>
          <a:bodyPr>
            <a:normAutofit/>
          </a:bodyPr>
          <a:lstStyle/>
          <a:p>
            <a:pPr algn="r"/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Refreshment</a:t>
            </a:r>
            <a:endParaRPr lang="en-ID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E96A5A-894E-ED27-28BE-A10B09522F94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B5C41-EFFC-3FF0-271E-7094990FDE67}"/>
              </a:ext>
            </a:extLst>
          </p:cNvPr>
          <p:cNvSpPr txBox="1"/>
          <p:nvPr/>
        </p:nvSpPr>
        <p:spPr>
          <a:xfrm>
            <a:off x="316992" y="3628532"/>
            <a:ext cx="5779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ahnschrift SemiLight" panose="020B0502040204020203" pitchFamily="34" charset="0"/>
              </a:rPr>
              <a:t>Isilah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kotak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kosong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berikut</a:t>
            </a:r>
            <a:r>
              <a:rPr lang="en-US" sz="3200" dirty="0">
                <a:latin typeface="Bahnschrift SemiLight" panose="020B0502040204020203" pitchFamily="34" charset="0"/>
              </a:rPr>
              <a:t>!</a:t>
            </a:r>
            <a:endParaRPr lang="en-ID" sz="3200" i="1" dirty="0">
              <a:latin typeface="Bahnschrift Semi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190CC-C77D-1E72-2398-4C24F40D8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47765"/>
            <a:ext cx="4480560" cy="434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6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BAD4-5B14-6222-6126-D98C894E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48A7-FFE9-3571-D4CC-655E56BFB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298683"/>
            <a:ext cx="8951976" cy="1008909"/>
          </a:xfrm>
        </p:spPr>
        <p:txBody>
          <a:bodyPr>
            <a:normAutofit/>
          </a:bodyPr>
          <a:lstStyle/>
          <a:p>
            <a:r>
              <a:rPr lang="en-US" sz="4800" b="1" dirty="0"/>
              <a:t>Apa </a:t>
            </a:r>
            <a:r>
              <a:rPr lang="en-US" sz="4800" b="1" dirty="0" err="1"/>
              <a:t>itu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Bunga?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46CAE2-06B4-9A57-2B52-DC894C894044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939981-22C3-F7F9-D7E3-1B72260A6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399" y="1975104"/>
            <a:ext cx="4425732" cy="4425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B41D10-95D9-BBB5-0AAC-B2DC9746DBC4}"/>
              </a:ext>
            </a:extLst>
          </p:cNvPr>
          <p:cNvSpPr txBox="1"/>
          <p:nvPr/>
        </p:nvSpPr>
        <p:spPr>
          <a:xfrm>
            <a:off x="502920" y="1755648"/>
            <a:ext cx="71231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ahnschrift SemiLight" panose="020B0502040204020203" pitchFamily="34" charset="0"/>
              </a:rPr>
              <a:t>Besaran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latin typeface="Bahnschrift SemiLight" panose="020B0502040204020203" pitchFamily="34" charset="0"/>
              </a:rPr>
              <a:t>simpanan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atau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dinyatakan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persentase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%</a:t>
            </a:r>
            <a:r>
              <a:rPr lang="en-US" sz="3200" dirty="0">
                <a:latin typeface="Bahnschrift SemiLight" panose="020B0502040204020203" pitchFamily="34" charset="0"/>
              </a:rPr>
              <a:t>). </a:t>
            </a:r>
            <a:r>
              <a:rPr lang="en-US" sz="3200" dirty="0" err="1">
                <a:latin typeface="Bahnschrift SemiLight" panose="020B0502040204020203" pitchFamily="34" charset="0"/>
              </a:rPr>
              <a:t>Secara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umum</a:t>
            </a:r>
            <a:r>
              <a:rPr lang="en-US" sz="3200" dirty="0">
                <a:latin typeface="Bahnschrift SemiLight" panose="020B0502040204020203" pitchFamily="34" charset="0"/>
              </a:rPr>
              <a:t> bunga (dan </a:t>
            </a:r>
            <a:r>
              <a:rPr lang="en-US" sz="3200" dirty="0" err="1">
                <a:latin typeface="Bahnschrift SemiLight" panose="020B0502040204020203" pitchFamily="34" charset="0"/>
              </a:rPr>
              <a:t>pokok</a:t>
            </a:r>
            <a:r>
              <a:rPr lang="en-US" sz="3200" dirty="0">
                <a:latin typeface="Bahnschrift SemiLight" panose="020B0502040204020203" pitchFamily="34" charset="0"/>
              </a:rPr>
              <a:t>) </a:t>
            </a:r>
            <a:r>
              <a:rPr lang="en-US" sz="3200" dirty="0" err="1">
                <a:latin typeface="Bahnschrift SemiLight" panose="020B0502040204020203" pitchFamily="34" charset="0"/>
              </a:rPr>
              <a:t>merupakan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komponen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utama</a:t>
            </a:r>
            <a:r>
              <a:rPr lang="en-US" sz="3200" dirty="0">
                <a:latin typeface="Bahnschrift SemiLight" panose="020B0502040204020203" pitchFamily="34" charset="0"/>
              </a:rPr>
              <a:t> yang </a:t>
            </a:r>
            <a:r>
              <a:rPr lang="en-US" sz="3200" dirty="0" err="1">
                <a:latin typeface="Bahnschrift SemiLight" panose="020B0502040204020203" pitchFamily="34" charset="0"/>
              </a:rPr>
              <a:t>harus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dibayar</a:t>
            </a:r>
            <a:r>
              <a:rPr lang="en-US" sz="3200" dirty="0">
                <a:latin typeface="Bahnschrift SemiLight" panose="020B0502040204020203" pitchFamily="34" charset="0"/>
              </a:rPr>
              <a:t> oleh </a:t>
            </a:r>
            <a:r>
              <a:rPr lang="en-US" sz="3200" dirty="0" err="1">
                <a:latin typeface="Bahnschrift SemiLight" panose="020B0502040204020203" pitchFamily="34" charset="0"/>
              </a:rPr>
              <a:t>kreditur</a:t>
            </a:r>
            <a:r>
              <a:rPr lang="en-US" sz="3200" dirty="0">
                <a:latin typeface="Bahnschrift SemiLight" panose="020B0502040204020203" pitchFamily="34" charset="0"/>
              </a:rPr>
              <a:t>. </a:t>
            </a:r>
            <a:r>
              <a:rPr lang="en-US" sz="3200" dirty="0" err="1">
                <a:latin typeface="Bahnschrift SemiLight" panose="020B0502040204020203" pitchFamily="34" charset="0"/>
              </a:rPr>
              <a:t>Pokok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disebut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i="1" dirty="0">
                <a:latin typeface="Bahnschrift SemiLight" panose="020B0502040204020203" pitchFamily="34" charset="0"/>
              </a:rPr>
              <a:t>principal</a:t>
            </a:r>
            <a:r>
              <a:rPr lang="en-US" sz="3200" dirty="0">
                <a:latin typeface="Bahnschrift SemiLight" panose="020B0502040204020203" pitchFamily="34" charset="0"/>
              </a:rPr>
              <a:t>, </a:t>
            </a:r>
            <a:r>
              <a:rPr lang="en-US" sz="3200" dirty="0" err="1">
                <a:latin typeface="Bahnschrift SemiLight" panose="020B0502040204020203" pitchFamily="34" charset="0"/>
              </a:rPr>
              <a:t>sedangkan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imbal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jasa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berupa</a:t>
            </a:r>
            <a:r>
              <a:rPr lang="en-US" sz="3200" dirty="0">
                <a:latin typeface="Bahnschrift SemiLight" panose="020B0502040204020203" pitchFamily="34" charset="0"/>
              </a:rPr>
              <a:t> uang (bunga) </a:t>
            </a:r>
            <a:r>
              <a:rPr lang="en-US" sz="3200" dirty="0" err="1">
                <a:latin typeface="Bahnschrift SemiLight" panose="020B0502040204020203" pitchFamily="34" charset="0"/>
              </a:rPr>
              <a:t>disebut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i="1" dirty="0">
                <a:latin typeface="Bahnschrift SemiLight" panose="020B0502040204020203" pitchFamily="34" charset="0"/>
              </a:rPr>
              <a:t>interest. </a:t>
            </a:r>
            <a:endParaRPr lang="en-ID" sz="3200" i="1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23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04E1-BB91-D904-BA76-3740B7F5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87EC-DA3B-1895-9734-5CF45F2CC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298683"/>
            <a:ext cx="8951976" cy="1008909"/>
          </a:xfrm>
        </p:spPr>
        <p:txBody>
          <a:bodyPr>
            <a:normAutofit/>
          </a:bodyPr>
          <a:lstStyle/>
          <a:p>
            <a:r>
              <a:rPr lang="en-US" sz="4800" b="1" dirty="0" err="1"/>
              <a:t>Rumus</a:t>
            </a:r>
            <a:r>
              <a:rPr lang="en-US" sz="4800" b="1" dirty="0"/>
              <a:t> </a:t>
            </a:r>
            <a:r>
              <a:rPr lang="en-US" sz="4800" b="1" dirty="0" err="1"/>
              <a:t>dasar</a:t>
            </a:r>
            <a:r>
              <a:rPr lang="en-US" sz="4800" b="1" dirty="0"/>
              <a:t> </a:t>
            </a:r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Bunga</a:t>
            </a:r>
            <a:endParaRPr lang="en-ID" sz="4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9B4D3B-9F35-6E4B-DDFC-7AE8CEF5ED1F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3EE2B-C82A-A827-3651-158B9E7F4A92}"/>
              </a:ext>
            </a:extLst>
          </p:cNvPr>
          <p:cNvSpPr txBox="1"/>
          <p:nvPr/>
        </p:nvSpPr>
        <p:spPr>
          <a:xfrm>
            <a:off x="502920" y="1755648"/>
            <a:ext cx="1099108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ahnschrift SemiLight" panose="020B0502040204020203" pitchFamily="34" charset="0"/>
              </a:rPr>
              <a:t>Besaran</a:t>
            </a:r>
            <a:r>
              <a:rPr lang="en-US" sz="3200" dirty="0">
                <a:latin typeface="Bahnschrift SemiLight" panose="020B0502040204020203" pitchFamily="34" charset="0"/>
              </a:rPr>
              <a:t> bunga </a:t>
            </a:r>
            <a:r>
              <a:rPr lang="en-US" sz="3200" dirty="0" err="1">
                <a:latin typeface="Bahnschrift SemiLight" panose="020B0502040204020203" pitchFamily="34" charset="0"/>
              </a:rPr>
              <a:t>dari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suatu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dapat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dihitung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dengan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formulasi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berikut</a:t>
            </a:r>
            <a:r>
              <a:rPr lang="en-US" sz="3200" dirty="0">
                <a:latin typeface="Bahnschrift SemiLight" panose="020B0502040204020203" pitchFamily="34" charset="0"/>
              </a:rPr>
              <a:t>:</a:t>
            </a:r>
          </a:p>
          <a:p>
            <a:endParaRPr lang="en-US" sz="3200" i="1" dirty="0">
              <a:latin typeface="Bahnschrift SemiLight" panose="020B0502040204020203" pitchFamily="34" charset="0"/>
            </a:endParaRPr>
          </a:p>
          <a:p>
            <a:r>
              <a:rPr lang="en-US" sz="3200" i="1" dirty="0">
                <a:latin typeface="Bahnschrift SemiLight" panose="020B0502040204020203" pitchFamily="34" charset="0"/>
              </a:rPr>
              <a:t>									</a:t>
            </a:r>
            <a:r>
              <a:rPr lang="en-US" sz="4000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I = P . R . t</a:t>
            </a:r>
          </a:p>
          <a:p>
            <a:endParaRPr lang="en-US" sz="3200" i="1" dirty="0">
              <a:latin typeface="Bahnschrift SemiLight" panose="020B0502040204020203" pitchFamily="34" charset="0"/>
            </a:endParaRPr>
          </a:p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Dimana:  </a:t>
            </a:r>
            <a:r>
              <a:rPr lang="en-US" sz="3200" dirty="0">
                <a:latin typeface="Bahnschrift SemiLight" panose="020B0502040204020203" pitchFamily="34" charset="0"/>
              </a:rPr>
              <a:t>	</a:t>
            </a:r>
            <a:r>
              <a:rPr lang="en-US" sz="3200" i="1" dirty="0">
                <a:latin typeface="Bahnschrift SemiLight" panose="020B0502040204020203" pitchFamily="34" charset="0"/>
              </a:rPr>
              <a:t>I</a:t>
            </a:r>
            <a:r>
              <a:rPr lang="en-US" sz="3200" dirty="0">
                <a:latin typeface="Bahnschrift SemiLight" panose="020B0502040204020203" pitchFamily="34" charset="0"/>
              </a:rPr>
              <a:t> 	= bunga (Rp)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P</a:t>
            </a:r>
            <a:r>
              <a:rPr lang="en-US" sz="3200" dirty="0">
                <a:latin typeface="Bahnschrift SemiLight" panose="020B0502040204020203" pitchFamily="34" charset="0"/>
              </a:rPr>
              <a:t> 	= </a:t>
            </a:r>
            <a:r>
              <a:rPr lang="en-US" sz="3200" dirty="0" err="1">
                <a:latin typeface="Bahnschrift SemiLight" panose="020B0502040204020203" pitchFamily="34" charset="0"/>
              </a:rPr>
              <a:t>pokok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(Rp)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r</a:t>
            </a:r>
            <a:r>
              <a:rPr lang="en-US" sz="3200" dirty="0">
                <a:latin typeface="Bahnschrift SemiLight" panose="020B0502040204020203" pitchFamily="34" charset="0"/>
              </a:rPr>
              <a:t> 	= </a:t>
            </a:r>
            <a:r>
              <a:rPr lang="en-US" sz="3200" dirty="0" err="1">
                <a:latin typeface="Bahnschrift SemiLight" panose="020B0502040204020203" pitchFamily="34" charset="0"/>
              </a:rPr>
              <a:t>tingkat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suku</a:t>
            </a:r>
            <a:r>
              <a:rPr lang="en-US" sz="3200" dirty="0">
                <a:latin typeface="Bahnschrift SemiLight" panose="020B0502040204020203" pitchFamily="34" charset="0"/>
              </a:rPr>
              <a:t> bunga (%)</a:t>
            </a:r>
          </a:p>
          <a:p>
            <a:r>
              <a:rPr lang="en-US" sz="3200" dirty="0">
                <a:latin typeface="Bahnschrift SemiLight" panose="020B0502040204020203" pitchFamily="34" charset="0"/>
              </a:rPr>
              <a:t>				</a:t>
            </a:r>
            <a:r>
              <a:rPr lang="en-US" sz="3200" i="1" dirty="0">
                <a:latin typeface="Bahnschrift SemiLight" panose="020B0502040204020203" pitchFamily="34" charset="0"/>
              </a:rPr>
              <a:t>t </a:t>
            </a:r>
            <a:r>
              <a:rPr lang="en-US" sz="3200" dirty="0">
                <a:latin typeface="Bahnschrift SemiLight" panose="020B0502040204020203" pitchFamily="34" charset="0"/>
              </a:rPr>
              <a:t>	= lama </a:t>
            </a:r>
            <a:r>
              <a:rPr lang="en-US" sz="3200" dirty="0" err="1">
                <a:latin typeface="Bahnschrift SemiLight" panose="020B0502040204020203" pitchFamily="34" charset="0"/>
              </a:rPr>
              <a:t>pinjaman</a:t>
            </a:r>
            <a:r>
              <a:rPr lang="en-US" sz="3200" dirty="0">
                <a:latin typeface="Bahnschrift SemiLight" panose="020B0502040204020203" pitchFamily="34" charset="0"/>
              </a:rPr>
              <a:t> (</a:t>
            </a:r>
            <a:r>
              <a:rPr lang="en-US" sz="3200" dirty="0" err="1">
                <a:latin typeface="Bahnschrift SemiLight" panose="020B0502040204020203" pitchFamily="34" charset="0"/>
              </a:rPr>
              <a:t>tahun</a:t>
            </a:r>
            <a:r>
              <a:rPr lang="en-US" sz="3200" dirty="0">
                <a:latin typeface="Bahnschrift SemiLight" panose="020B0502040204020203" pitchFamily="34" charset="0"/>
              </a:rPr>
              <a:t>)</a:t>
            </a:r>
            <a:endParaRPr lang="en-ID" sz="32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08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EADD-EA3D-8056-2787-6CFFF6ED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CE9F-3C94-EEFC-3637-315306345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214446"/>
            <a:ext cx="8951976" cy="1008909"/>
          </a:xfrm>
        </p:spPr>
        <p:txBody>
          <a:bodyPr>
            <a:normAutofit/>
          </a:bodyPr>
          <a:lstStyle/>
          <a:p>
            <a:pPr algn="r"/>
            <a:r>
              <a:rPr 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Refreshment</a:t>
            </a:r>
            <a:endParaRPr lang="en-ID"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63BA0A-C3D8-F82E-E8DE-277CE63242D5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828B2-06DE-2D16-27CC-D2F893A10C9F}"/>
              </a:ext>
            </a:extLst>
          </p:cNvPr>
          <p:cNvSpPr txBox="1"/>
          <p:nvPr/>
        </p:nvSpPr>
        <p:spPr>
          <a:xfrm>
            <a:off x="316992" y="3628532"/>
            <a:ext cx="5779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ahnschrift SemiLight" panose="020B0502040204020203" pitchFamily="34" charset="0"/>
              </a:rPr>
              <a:t>Isilah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kotak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kosong</a:t>
            </a:r>
            <a:r>
              <a:rPr lang="en-US" sz="3200" dirty="0">
                <a:latin typeface="Bahnschrift SemiLight" panose="020B0502040204020203" pitchFamily="34" charset="0"/>
              </a:rPr>
              <a:t> </a:t>
            </a:r>
            <a:r>
              <a:rPr lang="en-US" sz="3200" dirty="0" err="1">
                <a:latin typeface="Bahnschrift SemiLight" panose="020B0502040204020203" pitchFamily="34" charset="0"/>
              </a:rPr>
              <a:t>berikut</a:t>
            </a:r>
            <a:r>
              <a:rPr lang="en-US" sz="3200" dirty="0">
                <a:latin typeface="Bahnschrift SemiLight" panose="020B0502040204020203" pitchFamily="34" charset="0"/>
              </a:rPr>
              <a:t>!</a:t>
            </a:r>
            <a:endParaRPr lang="en-ID" sz="3200" i="1" dirty="0">
              <a:latin typeface="Bahnschrift Semi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7EC6B-407D-C501-FDFD-C0217BECB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62" y="1453896"/>
            <a:ext cx="4918002" cy="491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6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D1F4-561E-579C-25A3-B76D82A9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0290-B663-A7E9-6045-E3090AB72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525176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</a:t>
            </a:r>
            <a:r>
              <a:rPr lang="en-US" sz="3600" b="1" dirty="0" err="1">
                <a:solidFill>
                  <a:srgbClr val="FFFF00"/>
                </a:solidFill>
              </a:rPr>
              <a:t>tunggal</a:t>
            </a:r>
            <a:r>
              <a:rPr lang="en-US" sz="3600" b="1" dirty="0">
                <a:solidFill>
                  <a:srgbClr val="FFFF00"/>
                </a:solidFill>
              </a:rPr>
              <a:t> #1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6D4045-7BAF-F1F6-A50D-1ABA706F7D46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20402-3203-BA24-DF55-9BD42334A9E3}"/>
              </a:ext>
            </a:extLst>
          </p:cNvPr>
          <p:cNvSpPr txBox="1"/>
          <p:nvPr/>
        </p:nvSpPr>
        <p:spPr>
          <a:xfrm>
            <a:off x="301752" y="948874"/>
            <a:ext cx="860450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Bahnschrift SemiLight" panose="020B0502040204020203" pitchFamily="34" charset="0"/>
            </a:endParaRPr>
          </a:p>
          <a:p>
            <a:pPr algn="just"/>
            <a:r>
              <a:rPr lang="en-US" sz="2800" dirty="0">
                <a:latin typeface="Bahnschrift SemiLight" panose="020B0502040204020203" pitchFamily="34" charset="0"/>
              </a:rPr>
              <a:t>Ibu </a:t>
            </a:r>
            <a:r>
              <a:rPr lang="en-US" sz="2800" dirty="0" err="1">
                <a:latin typeface="Bahnschrift SemiLight" panose="020B0502040204020203" pitchFamily="34" charset="0"/>
              </a:rPr>
              <a:t>Yosine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meminjam</a:t>
            </a:r>
            <a:r>
              <a:rPr lang="en-US" sz="2800" dirty="0">
                <a:latin typeface="Bahnschrift SemiLight" panose="020B0502040204020203" pitchFamily="34" charset="0"/>
              </a:rPr>
              <a:t> uang </a:t>
            </a:r>
            <a:r>
              <a:rPr lang="en-US" sz="2800" dirty="0" err="1">
                <a:latin typeface="Bahnschrift SemiLight" panose="020B0502040204020203" pitchFamily="34" charset="0"/>
              </a:rPr>
              <a:t>sebesar</a:t>
            </a:r>
            <a:r>
              <a:rPr lang="en-US" sz="2800" dirty="0">
                <a:latin typeface="Bahnschrift SemiLight" panose="020B0502040204020203" pitchFamily="34" charset="0"/>
              </a:rPr>
              <a:t> Rp.10.000.000,- di </a:t>
            </a:r>
            <a:r>
              <a:rPr lang="en-US" sz="2800" dirty="0" err="1">
                <a:latin typeface="Bahnschrift SemiLight" panose="020B0502040204020203" pitchFamily="34" charset="0"/>
              </a:rPr>
              <a:t>suatu</a:t>
            </a:r>
            <a:r>
              <a:rPr lang="en-US" sz="2800" dirty="0">
                <a:latin typeface="Bahnschrift SemiLight" panose="020B0502040204020203" pitchFamily="34" charset="0"/>
              </a:rPr>
              <a:t> bank </a:t>
            </a:r>
            <a:r>
              <a:rPr lang="en-US" sz="2800" dirty="0" err="1">
                <a:latin typeface="Bahnschrift SemiLight" panose="020B0502040204020203" pitchFamily="34" charset="0"/>
              </a:rPr>
              <a:t>dengan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tingkat</a:t>
            </a:r>
            <a:r>
              <a:rPr lang="en-US" sz="2800" dirty="0">
                <a:latin typeface="Bahnschrift SemiLight" panose="020B0502040204020203" pitchFamily="34" charset="0"/>
              </a:rPr>
              <a:t> bunga 12% </a:t>
            </a:r>
            <a:r>
              <a:rPr lang="en-US" sz="2800" dirty="0" err="1">
                <a:latin typeface="Bahnschrift SemiLight" panose="020B0502040204020203" pitchFamily="34" charset="0"/>
              </a:rPr>
              <a:t>selama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setahun</a:t>
            </a:r>
            <a:r>
              <a:rPr lang="en-US" sz="2800" dirty="0">
                <a:latin typeface="Bahnschrift SemiLight" panose="020B0502040204020203" pitchFamily="34" charset="0"/>
              </a:rPr>
              <a:t>. </a:t>
            </a:r>
            <a:r>
              <a:rPr lang="en-US" sz="2800" dirty="0" err="1">
                <a:latin typeface="Bahnschrift SemiLight" panose="020B0502040204020203" pitchFamily="34" charset="0"/>
              </a:rPr>
              <a:t>Tentukanlah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nilai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akumulasi</a:t>
            </a:r>
            <a:r>
              <a:rPr lang="en-US" sz="2800" dirty="0">
                <a:latin typeface="Bahnschrift SemiLight" panose="020B0502040204020203" pitchFamily="34" charset="0"/>
              </a:rPr>
              <a:t> yang </a:t>
            </a:r>
            <a:r>
              <a:rPr lang="en-US" sz="2800" dirty="0" err="1">
                <a:latin typeface="Bahnschrift SemiLight" panose="020B0502040204020203" pitchFamily="34" charset="0"/>
              </a:rPr>
              <a:t>harus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dibayarkan</a:t>
            </a:r>
            <a:r>
              <a:rPr lang="en-US" sz="2800" dirty="0">
                <a:latin typeface="Bahnschrift SemiLight" panose="020B0502040204020203" pitchFamily="34" charset="0"/>
              </a:rPr>
              <a:t> oleh Ibu </a:t>
            </a:r>
            <a:r>
              <a:rPr lang="en-US" sz="2800" dirty="0" err="1">
                <a:latin typeface="Bahnschrift SemiLight" panose="020B0502040204020203" pitchFamily="34" charset="0"/>
              </a:rPr>
              <a:t>Yosine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saat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pengembalian</a:t>
            </a:r>
            <a:r>
              <a:rPr lang="en-US" sz="2800" dirty="0"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latin typeface="Bahnschrift SemiLight" panose="020B0502040204020203" pitchFamily="34" charset="0"/>
              </a:rPr>
              <a:t>pinjaman</a:t>
            </a:r>
            <a:r>
              <a:rPr lang="en-US" sz="2800" dirty="0">
                <a:latin typeface="Bahnschrift SemiLight" panose="020B0502040204020203" pitchFamily="34" charset="0"/>
              </a:rPr>
              <a:t>!</a:t>
            </a:r>
          </a:p>
          <a:p>
            <a:pPr algn="just"/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Diketahui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P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= Rp.10.000.000, </a:t>
            </a:r>
            <a:r>
              <a: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r 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= 12% = 0,12, </a:t>
            </a:r>
            <a:r>
              <a: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t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= 1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tahun</a:t>
            </a:r>
            <a:endParaRPr lang="en-US" sz="2800" dirty="0">
              <a:solidFill>
                <a:schemeClr val="bg2">
                  <a:lumMod val="40000"/>
                  <a:lumOff val="60000"/>
                </a:schemeClr>
              </a:solidFill>
              <a:latin typeface="Bahnschrift SemiLight" panose="020B0502040204020203" pitchFamily="34" charset="0"/>
            </a:endParaRPr>
          </a:p>
          <a:p>
            <a:pPr algn="just"/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Bunga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pinjaman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	= </a:t>
            </a:r>
            <a:r>
              <a: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P. r . t</a:t>
            </a:r>
          </a:p>
          <a:p>
            <a:pPr algn="just"/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						= 10.000.000 x 0,12 x 1</a:t>
            </a:r>
          </a:p>
          <a:p>
            <a:pPr algn="just"/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						= 1.200.000</a:t>
            </a:r>
          </a:p>
          <a:p>
            <a:pPr algn="just"/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Sehingga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nilai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akumulasi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adalah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10.000.000 + 1.200.000 = Rp. 11.200.000. Jadi uang yang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disetor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Ibu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Yosine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ke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bank </a:t>
            </a:r>
            <a:r>
              <a:rPr lang="en-US" sz="2800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sebesar</a:t>
            </a:r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Light" panose="020B0502040204020203" pitchFamily="34" charset="0"/>
              </a:rPr>
              <a:t> </a:t>
            </a: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Light" panose="020B0502040204020203" pitchFamily="34" charset="0"/>
              </a:rPr>
              <a:t>Rp. 11.200.000,-.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408B2-2777-AEB5-136E-908C38A59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08" y="3126164"/>
            <a:ext cx="3206660" cy="320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1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4E14-1D23-16EE-50FA-C36A8FFF4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51D1-15A7-6934-AE20-20BAED2AD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186848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Tunggal #2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B73311-C295-1E8A-4359-382A3B64B79F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F8C4C6-C351-6EE7-27B1-E095413A77EC}"/>
                  </a:ext>
                </a:extLst>
              </p:cNvPr>
              <p:cNvSpPr txBox="1"/>
              <p:nvPr/>
            </p:nvSpPr>
            <p:spPr>
              <a:xfrm>
                <a:off x="286816" y="501751"/>
                <a:ext cx="8604505" cy="6054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800" dirty="0">
                    <a:latin typeface="Bahnschrift SemiLight" panose="020B0502040204020203" pitchFamily="34" charset="0"/>
                  </a:rPr>
                  <a:t>Pak Vanja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meminjam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uang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sebesar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Rp.60.000.000,-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tingkat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bunga 14% pada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tanggal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5 Januari 2025.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akumulasi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yang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harus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dibayarkan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oleh Pak Vanja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jika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pengembalian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pinjaman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dilakukan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pada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tanggal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5 September 2025!</a:t>
                </a:r>
              </a:p>
              <a:p>
                <a:pPr algn="just"/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Rp.60.000.000, </a:t>
                </a:r>
                <a:r>
                  <a:rPr lang="en-US" sz="28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 14% = 0,14, </a:t>
                </a:r>
                <a:r>
                  <a:rPr lang="en-US" sz="28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8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atau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atau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tahun.</a:t>
                </a:r>
              </a:p>
              <a:p>
                <a:pPr algn="just"/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Bunga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pinjaman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</a:t>
                </a:r>
                <a:r>
                  <a:rPr lang="en-US" sz="28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P. r . t</a:t>
                </a:r>
              </a:p>
              <a:p>
                <a:pPr algn="just"/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				= 60.000.000 x 0,14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5.600.000</a:t>
                </a:r>
              </a:p>
              <a:p>
                <a:pPr algn="just"/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nilai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akumulasi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adalah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60.000.000 + 5.600.000 = Rp. 65.600.000. Jadi uang yang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disetor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Pak Vanja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ke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bank </a:t>
                </a:r>
                <a:r>
                  <a:rPr lang="en-US" sz="28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sebesar</a:t>
                </a:r>
                <a:r>
                  <a:rPr lang="en-US" sz="28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 65.600.000,-.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F8C4C6-C351-6EE7-27B1-E095413A7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16" y="501751"/>
                <a:ext cx="8604505" cy="6054991"/>
              </a:xfrm>
              <a:prstGeom prst="rect">
                <a:avLst/>
              </a:prstGeom>
              <a:blipFill>
                <a:blip r:embed="rId2"/>
                <a:stretch>
                  <a:fillRect l="-1416" t="-1107" r="-2620" b="-17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D26D03E-23C6-71D1-A9AD-5123F1847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21" y="3171352"/>
            <a:ext cx="3300679" cy="33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1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4F20-AC14-B562-C07A-04F87971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EA4E-F8B5-EAF2-A88B-32CF1C2D9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52" y="525176"/>
            <a:ext cx="8951976" cy="688874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FFFF00"/>
                </a:solidFill>
              </a:rPr>
              <a:t>Contoh</a:t>
            </a:r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err="1">
                <a:solidFill>
                  <a:srgbClr val="FFFF00"/>
                </a:solidFill>
              </a:rPr>
              <a:t>aplikasi</a:t>
            </a:r>
            <a:r>
              <a:rPr lang="en-US" sz="3600" b="1" dirty="0">
                <a:solidFill>
                  <a:srgbClr val="FFFF00"/>
                </a:solidFill>
              </a:rPr>
              <a:t> bunga </a:t>
            </a:r>
            <a:r>
              <a:rPr lang="en-US" sz="3600" b="1" dirty="0" err="1">
                <a:solidFill>
                  <a:srgbClr val="FFFF00"/>
                </a:solidFill>
              </a:rPr>
              <a:t>tunggal</a:t>
            </a:r>
            <a:r>
              <a:rPr lang="en-US" sz="3600" b="1" dirty="0">
                <a:solidFill>
                  <a:srgbClr val="FFFF00"/>
                </a:solidFill>
              </a:rPr>
              <a:t> #3</a:t>
            </a:r>
            <a:endParaRPr lang="en-ID" sz="36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D82E17-6BD7-C14C-80AF-2480D6DDA374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7D284B-7C3F-0C11-4B16-4957E84CE324}"/>
                  </a:ext>
                </a:extLst>
              </p:cNvPr>
              <p:cNvSpPr txBox="1"/>
              <p:nvPr/>
            </p:nvSpPr>
            <p:spPr>
              <a:xfrm>
                <a:off x="301752" y="1113466"/>
                <a:ext cx="8321040" cy="5415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800" dirty="0">
                    <a:latin typeface="Bahnschrift SemiLight" panose="020B0502040204020203" pitchFamily="34" charset="0"/>
                  </a:rPr>
                  <a:t>Ibu Jihan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mendepositokan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uang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sebesar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Rp.100.000.000,- di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suatu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bank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dengan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tingkat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bunga 3%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selama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setahun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dan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pajak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bunga 20%.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Tentukanlah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nilai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bunga yang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diperoleh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oleh Ibu Jihan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setiap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 </a:t>
                </a:r>
                <a:r>
                  <a:rPr lang="en-US" sz="2800" dirty="0" err="1">
                    <a:latin typeface="Bahnschrift SemiLight" panose="020B0502040204020203" pitchFamily="34" charset="0"/>
                  </a:rPr>
                  <a:t>bulannya</a:t>
                </a:r>
                <a:r>
                  <a:rPr lang="en-US" sz="2800" dirty="0">
                    <a:latin typeface="Bahnschrift SemiLight" panose="020B0502040204020203" pitchFamily="34" charset="0"/>
                  </a:rPr>
                  <a:t>.</a:t>
                </a:r>
              </a:p>
              <a:p>
                <a:pPr algn="just"/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Diketahui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Rp.100.000.000,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r 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= 3% = 0,03,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t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= 1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endPara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latin typeface="Bahnschrift SemiLight" panose="020B0502040204020203" pitchFamily="34" charset="0"/>
                </a:endParaRP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Bunga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pinjaman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= </a:t>
                </a:r>
                <a:r>
                  <a:rPr lang="en-US" sz="24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P. r . t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				= 100.000.000 x 0,03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bg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						= 250.000</a:t>
                </a:r>
              </a:p>
              <a:p>
                <a:pPr algn="just"/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Nilai Rp.250.000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kemudian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dikurang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pajak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20%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sehingga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menjadi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Rp.200.000. Jadi bunga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deposito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yang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diterima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Ibu Jihan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setiap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bulan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 err="1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sebesar</a:t>
                </a:r>
                <a:r>
                  <a:rPr lang="en-US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latin typeface="Bahnschrift SemiLight" panose="020B0502040204020203" pitchFamily="34" charset="0"/>
                  </a:rPr>
                  <a:t> </a:t>
                </a:r>
                <a:r>
                  <a:rPr lang="en-US" sz="2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Bahnschrift SemiLight" panose="020B0502040204020203" pitchFamily="34" charset="0"/>
                  </a:rPr>
                  <a:t>Rp.200.000,-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7D284B-7C3F-0C11-4B16-4957E84CE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1113466"/>
                <a:ext cx="8321040" cy="5415200"/>
              </a:xfrm>
              <a:prstGeom prst="rect">
                <a:avLst/>
              </a:prstGeom>
              <a:blipFill>
                <a:blip r:embed="rId2"/>
                <a:stretch>
                  <a:fillRect l="-1538" t="-1351" r="-2711" b="-15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8071AAA-B929-2112-9203-423A185DA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808" y="3126164"/>
            <a:ext cx="3206660" cy="320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7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B182F-10E1-1384-41B3-7CDA0685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7BAD-0850-F4BE-B5A9-5455E37F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0" y="603784"/>
            <a:ext cx="9765792" cy="688874"/>
          </a:xfrm>
        </p:spPr>
        <p:txBody>
          <a:bodyPr>
            <a:noAutofit/>
          </a:bodyPr>
          <a:lstStyle/>
          <a:p>
            <a:pPr algn="r"/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Latihan Soal #1</a:t>
            </a:r>
            <a:endParaRPr lang="en-ID" sz="4400" dirty="0">
              <a:solidFill>
                <a:schemeClr val="accent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C36217-474F-00EF-C6AE-4B103A5D2FAE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D3B74-0A17-2C28-E22F-EC0C925F77E0}"/>
              </a:ext>
            </a:extLst>
          </p:cNvPr>
          <p:cNvSpPr txBox="1"/>
          <p:nvPr/>
        </p:nvSpPr>
        <p:spPr>
          <a:xfrm>
            <a:off x="292608" y="1104322"/>
            <a:ext cx="797356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Bahnschrift SemiLight" panose="020B0502040204020203" pitchFamily="34" charset="0"/>
            </a:endParaRPr>
          </a:p>
          <a:p>
            <a:pPr algn="just"/>
            <a:r>
              <a:rPr lang="en-US" sz="3600" dirty="0">
                <a:latin typeface="Bahnschrift SemiLight" panose="020B0502040204020203" pitchFamily="34" charset="0"/>
              </a:rPr>
              <a:t>Ibu Velly </a:t>
            </a:r>
            <a:r>
              <a:rPr lang="en-US" sz="3600" dirty="0" err="1">
                <a:latin typeface="Bahnschrift SemiLight" panose="020B0502040204020203" pitchFamily="34" charset="0"/>
              </a:rPr>
              <a:t>mengambil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pinjaman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i="1" dirty="0">
                <a:latin typeface="Bahnschrift SemiLight" panose="020B0502040204020203" pitchFamily="34" charset="0"/>
              </a:rPr>
              <a:t>online </a:t>
            </a:r>
            <a:r>
              <a:rPr lang="en-US" sz="3600" dirty="0">
                <a:latin typeface="Bahnschrift SemiLight" panose="020B0502040204020203" pitchFamily="34" charset="0"/>
              </a:rPr>
              <a:t>(</a:t>
            </a:r>
            <a:r>
              <a:rPr lang="en-US" sz="3600" dirty="0" err="1">
                <a:latin typeface="Bahnschrift SemiLight" panose="020B0502040204020203" pitchFamily="34" charset="0"/>
              </a:rPr>
              <a:t>pinjol</a:t>
            </a:r>
            <a:r>
              <a:rPr lang="en-US" sz="3600" dirty="0">
                <a:latin typeface="Bahnschrift SemiLight" panose="020B0502040204020203" pitchFamily="34" charset="0"/>
              </a:rPr>
              <a:t>) di salah </a:t>
            </a:r>
            <a:r>
              <a:rPr lang="en-US" sz="3600" dirty="0" err="1">
                <a:latin typeface="Bahnschrift SemiLight" panose="020B0502040204020203" pitchFamily="34" charset="0"/>
              </a:rPr>
              <a:t>satu</a:t>
            </a:r>
            <a:r>
              <a:rPr lang="en-US" sz="3600" dirty="0">
                <a:latin typeface="Bahnschrift SemiLight" panose="020B0502040204020203" pitchFamily="34" charset="0"/>
              </a:rPr>
              <a:t> platform digital </a:t>
            </a:r>
            <a:r>
              <a:rPr lang="en-US" sz="3600" dirty="0" err="1">
                <a:latin typeface="Bahnschrift SemiLight" panose="020B0502040204020203" pitchFamily="34" charset="0"/>
              </a:rPr>
              <a:t>sebesar</a:t>
            </a:r>
            <a:r>
              <a:rPr lang="en-US" sz="3600" dirty="0">
                <a:latin typeface="Bahnschrift SemiLight" panose="020B0502040204020203" pitchFamily="34" charset="0"/>
              </a:rPr>
              <a:t> Rp.50.000.000,- </a:t>
            </a:r>
            <a:r>
              <a:rPr lang="en-US" sz="3600" dirty="0" err="1">
                <a:latin typeface="Bahnschrift SemiLight" panose="020B0502040204020203" pitchFamily="34" charset="0"/>
              </a:rPr>
              <a:t>dengan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suku</a:t>
            </a:r>
            <a:r>
              <a:rPr lang="en-US" sz="3600" dirty="0">
                <a:latin typeface="Bahnschrift SemiLight" panose="020B0502040204020203" pitchFamily="34" charset="0"/>
              </a:rPr>
              <a:t> bunga 20% per </a:t>
            </a:r>
            <a:r>
              <a:rPr lang="en-US" sz="3600" dirty="0" err="1">
                <a:latin typeface="Bahnschrift SemiLight" panose="020B0502040204020203" pitchFamily="34" charset="0"/>
              </a:rPr>
              <a:t>tahun</a:t>
            </a:r>
            <a:r>
              <a:rPr lang="en-US" sz="3600" dirty="0">
                <a:latin typeface="Bahnschrift SemiLight" panose="020B0502040204020203" pitchFamily="34" charset="0"/>
              </a:rPr>
              <a:t>. </a:t>
            </a:r>
            <a:r>
              <a:rPr lang="en-US" sz="3600" dirty="0" err="1">
                <a:latin typeface="Bahnschrift SemiLight" panose="020B0502040204020203" pitchFamily="34" charset="0"/>
              </a:rPr>
              <a:t>Tentukanlah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nilai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akumulasi</a:t>
            </a:r>
            <a:r>
              <a:rPr lang="en-US" sz="3600" dirty="0">
                <a:latin typeface="Bahnschrift SemiLight" panose="020B0502040204020203" pitchFamily="34" charset="0"/>
              </a:rPr>
              <a:t> yang </a:t>
            </a:r>
            <a:r>
              <a:rPr lang="en-US" sz="3600" dirty="0" err="1">
                <a:latin typeface="Bahnschrift SemiLight" panose="020B0502040204020203" pitchFamily="34" charset="0"/>
              </a:rPr>
              <a:t>harus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dibayarkan</a:t>
            </a:r>
            <a:r>
              <a:rPr lang="en-US" sz="3600" dirty="0">
                <a:latin typeface="Bahnschrift SemiLight" panose="020B0502040204020203" pitchFamily="34" charset="0"/>
              </a:rPr>
              <a:t> oleh Ibu Velly </a:t>
            </a:r>
            <a:r>
              <a:rPr lang="en-US" sz="3600" dirty="0" err="1">
                <a:latin typeface="Bahnschrift SemiLight" panose="020B0502040204020203" pitchFamily="34" charset="0"/>
              </a:rPr>
              <a:t>saat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pengembalian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pinjaman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jika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dia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mengambil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pinjaman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selama</a:t>
            </a:r>
            <a:r>
              <a:rPr lang="en-US" sz="3600" dirty="0">
                <a:latin typeface="Bahnschrift SemiLight" panose="020B0502040204020203" pitchFamily="34" charset="0"/>
              </a:rPr>
              <a:t> 3 </a:t>
            </a:r>
            <a:r>
              <a:rPr lang="en-US" sz="3600" dirty="0" err="1">
                <a:latin typeface="Bahnschrift SemiLight" panose="020B0502040204020203" pitchFamily="34" charset="0"/>
              </a:rPr>
              <a:t>tahun</a:t>
            </a:r>
            <a:r>
              <a:rPr lang="en-US" sz="3600" dirty="0">
                <a:latin typeface="Bahnschrift SemiLight" panose="020B0502040204020203" pitchFamily="34" charset="0"/>
              </a:rPr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1B539-A23A-89C5-B7BC-FBBA2305D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7" y="2328671"/>
            <a:ext cx="3236671" cy="32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7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2B0B-23F9-A273-C26C-AF768C18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84D5-CD5F-C5B0-1D5C-48C9019F5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960" y="603784"/>
            <a:ext cx="9765792" cy="688874"/>
          </a:xfrm>
        </p:spPr>
        <p:txBody>
          <a:bodyPr>
            <a:noAutofit/>
          </a:bodyPr>
          <a:lstStyle/>
          <a:p>
            <a:pPr algn="r"/>
            <a:r>
              <a:rPr lang="en-US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Latihan Soal #2</a:t>
            </a:r>
            <a:endParaRPr lang="en-ID" sz="4400" dirty="0">
              <a:solidFill>
                <a:schemeClr val="accent2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461634-419C-93FD-DE59-576FF5B24955}"/>
              </a:ext>
            </a:extLst>
          </p:cNvPr>
          <p:cNvSpPr txBox="1">
            <a:spLocks/>
          </p:cNvSpPr>
          <p:nvPr/>
        </p:nvSpPr>
        <p:spPr>
          <a:xfrm>
            <a:off x="612648" y="2465662"/>
            <a:ext cx="6778751" cy="1563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ID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DCA8E-344B-0412-9DC9-6B2B7F9F2AE5}"/>
              </a:ext>
            </a:extLst>
          </p:cNvPr>
          <p:cNvSpPr txBox="1"/>
          <p:nvPr/>
        </p:nvSpPr>
        <p:spPr>
          <a:xfrm>
            <a:off x="292608" y="1396930"/>
            <a:ext cx="79735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Bahnschrift SemiLight" panose="020B0502040204020203" pitchFamily="34" charset="0"/>
            </a:endParaRPr>
          </a:p>
          <a:p>
            <a:pPr algn="just"/>
            <a:r>
              <a:rPr lang="en-US" sz="3600" dirty="0">
                <a:latin typeface="Bahnschrift SemiLight" panose="020B0502040204020203" pitchFamily="34" charset="0"/>
              </a:rPr>
              <a:t>Bapak Hanif </a:t>
            </a:r>
            <a:r>
              <a:rPr lang="en-US" sz="3600" dirty="0" err="1">
                <a:latin typeface="Bahnschrift SemiLight" panose="020B0502040204020203" pitchFamily="34" charset="0"/>
              </a:rPr>
              <a:t>ditawari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deposito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dengan</a:t>
            </a:r>
            <a:r>
              <a:rPr lang="en-US" sz="3600" dirty="0">
                <a:latin typeface="Bahnschrift SemiLight" panose="020B0502040204020203" pitchFamily="34" charset="0"/>
              </a:rPr>
              <a:t> bunga </a:t>
            </a:r>
            <a:r>
              <a:rPr lang="en-US" sz="3600" dirty="0" err="1">
                <a:latin typeface="Bahnschrift SemiLight" panose="020B0502040204020203" pitchFamily="34" charset="0"/>
              </a:rPr>
              <a:t>spesial</a:t>
            </a:r>
            <a:r>
              <a:rPr lang="en-US" sz="3600" dirty="0">
                <a:latin typeface="Bahnschrift SemiLight" panose="020B0502040204020203" pitchFamily="34" charset="0"/>
              </a:rPr>
              <a:t> 5% / </a:t>
            </a:r>
            <a:r>
              <a:rPr lang="en-US" sz="3600" dirty="0" err="1">
                <a:latin typeface="Bahnschrift SemiLight" panose="020B0502040204020203" pitchFamily="34" charset="0"/>
              </a:rPr>
              <a:t>tahun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jika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setuju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mendepositokan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uangnya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sebesar</a:t>
            </a:r>
            <a:r>
              <a:rPr lang="en-US" sz="3600" dirty="0">
                <a:latin typeface="Bahnschrift SemiLight" panose="020B0502040204020203" pitchFamily="34" charset="0"/>
              </a:rPr>
              <a:t> Rp.500.000.000,-. </a:t>
            </a:r>
            <a:r>
              <a:rPr lang="en-US" sz="3600" dirty="0" err="1">
                <a:latin typeface="Bahnschrift SemiLight" panose="020B0502040204020203" pitchFamily="34" charset="0"/>
              </a:rPr>
              <a:t>Berapa</a:t>
            </a:r>
            <a:r>
              <a:rPr lang="en-US" sz="3600" dirty="0">
                <a:latin typeface="Bahnschrift SemiLight" panose="020B0502040204020203" pitchFamily="34" charset="0"/>
              </a:rPr>
              <a:t> total bunga </a:t>
            </a:r>
            <a:r>
              <a:rPr lang="en-US" sz="3600" dirty="0" err="1">
                <a:latin typeface="Bahnschrift SemiLight" panose="020B0502040204020203" pitchFamily="34" charset="0"/>
              </a:rPr>
              <a:t>deposito</a:t>
            </a:r>
            <a:r>
              <a:rPr lang="en-US" sz="3600" dirty="0">
                <a:latin typeface="Bahnschrift SemiLight" panose="020B0502040204020203" pitchFamily="34" charset="0"/>
              </a:rPr>
              <a:t> yang </a:t>
            </a:r>
            <a:r>
              <a:rPr lang="en-US" sz="3600" dirty="0" err="1">
                <a:latin typeface="Bahnschrift SemiLight" panose="020B0502040204020203" pitchFamily="34" charset="0"/>
              </a:rPr>
              <a:t>didapat</a:t>
            </a:r>
            <a:r>
              <a:rPr lang="en-US" sz="3600" dirty="0">
                <a:latin typeface="Bahnschrift SemiLight" panose="020B0502040204020203" pitchFamily="34" charset="0"/>
              </a:rPr>
              <a:t> oleh Bapak Hanif (</a:t>
            </a:r>
            <a:r>
              <a:rPr lang="en-US" sz="3600" dirty="0" err="1">
                <a:latin typeface="Bahnschrift SemiLight" panose="020B0502040204020203" pitchFamily="34" charset="0"/>
              </a:rPr>
              <a:t>setelah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dipotong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pajak</a:t>
            </a:r>
            <a:r>
              <a:rPr lang="en-US" sz="3600" dirty="0">
                <a:latin typeface="Bahnschrift SemiLight" panose="020B0502040204020203" pitchFamily="34" charset="0"/>
              </a:rPr>
              <a:t>) pada 9 </a:t>
            </a:r>
            <a:r>
              <a:rPr lang="en-US" sz="3600" dirty="0" err="1">
                <a:latin typeface="Bahnschrift SemiLight" panose="020B0502040204020203" pitchFamily="34" charset="0"/>
              </a:rPr>
              <a:t>bulan</a:t>
            </a:r>
            <a:r>
              <a:rPr lang="en-US" sz="3600" dirty="0">
                <a:latin typeface="Bahnschrift SemiLight" panose="020B0502040204020203" pitchFamily="34" charset="0"/>
              </a:rPr>
              <a:t> </a:t>
            </a:r>
            <a:r>
              <a:rPr lang="en-US" sz="3600" dirty="0" err="1">
                <a:latin typeface="Bahnschrift SemiLight" panose="020B0502040204020203" pitchFamily="34" charset="0"/>
              </a:rPr>
              <a:t>pertama</a:t>
            </a:r>
            <a:r>
              <a:rPr lang="en-US" sz="3600" dirty="0">
                <a:latin typeface="Bahnschrift SemiLight" panose="020B0502040204020203" pitchFamily="34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6EE54-6874-3C53-074C-9D1122959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417" y="2328671"/>
            <a:ext cx="3236671" cy="32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550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422</TotalTime>
  <Words>710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Bahnschrift</vt:lpstr>
      <vt:lpstr>Bahnschrift SemiLight</vt:lpstr>
      <vt:lpstr>Cambria Math</vt:lpstr>
      <vt:lpstr>Century Gothic</vt:lpstr>
      <vt:lpstr>Wingdings 3</vt:lpstr>
      <vt:lpstr>Ion</vt:lpstr>
      <vt:lpstr>Sesi 3 MATEMATIKA EKONOMI</vt:lpstr>
      <vt:lpstr>PowerPoint Presentation</vt:lpstr>
      <vt:lpstr>PowerPoint Presentation</vt:lpstr>
      <vt:lpstr>Refreshment</vt:lpstr>
      <vt:lpstr>Apa itu Bunga?</vt:lpstr>
      <vt:lpstr>Rumus dasar Bunga</vt:lpstr>
      <vt:lpstr>Refreshment</vt:lpstr>
      <vt:lpstr>Contoh aplikasi bunga tunggal #1</vt:lpstr>
      <vt:lpstr>Contoh aplikasi bunga Tunggal #2</vt:lpstr>
      <vt:lpstr>Contoh aplikasi bunga tunggal #3</vt:lpstr>
      <vt:lpstr>Latihan Soal #1</vt:lpstr>
      <vt:lpstr>Latihan Soal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49</cp:revision>
  <dcterms:created xsi:type="dcterms:W3CDTF">2025-07-31T05:10:12Z</dcterms:created>
  <dcterms:modified xsi:type="dcterms:W3CDTF">2025-08-29T03:46:36Z</dcterms:modified>
</cp:coreProperties>
</file>