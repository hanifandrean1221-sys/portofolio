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5" r:id="rId3"/>
    <p:sldId id="263" r:id="rId4"/>
    <p:sldId id="279" r:id="rId5"/>
    <p:sldId id="262" r:id="rId6"/>
    <p:sldId id="283" r:id="rId7"/>
    <p:sldId id="272" r:id="rId8"/>
    <p:sldId id="285" r:id="rId9"/>
    <p:sldId id="286" r:id="rId10"/>
    <p:sldId id="284" r:id="rId11"/>
    <p:sldId id="277" r:id="rId12"/>
    <p:sldId id="288" r:id="rId13"/>
    <p:sldId id="287" r:id="rId14"/>
    <p:sldId id="289" r:id="rId15"/>
    <p:sldId id="29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736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733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198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58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603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86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222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559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913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34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805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7644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5730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878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0932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2866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451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2ABA9B-657B-4503-BCC7-70B927BED2B1}" type="datetimeFigureOut">
              <a:rPr lang="en-ID" smtClean="0"/>
              <a:t>08/09/2025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060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3078-3A4A-9C2D-251A-657E9052B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2224" y="1078992"/>
            <a:ext cx="10018776" cy="2249742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 err="1"/>
              <a:t>Sesi</a:t>
            </a:r>
            <a:r>
              <a:rPr lang="en-US" b="1" dirty="0"/>
              <a:t> 4</a:t>
            </a:r>
            <a:br>
              <a:rPr lang="en-US" dirty="0"/>
            </a:br>
            <a:r>
              <a:rPr lang="en-US" dirty="0"/>
              <a:t>MATEMATIKA EKONOMI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B3968-017B-C5AB-7FFE-252D89374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1880" y="4880023"/>
            <a:ext cx="8199120" cy="758182"/>
          </a:xfrm>
        </p:spPr>
        <p:txBody>
          <a:bodyPr>
            <a:noAutofit/>
          </a:bodyPr>
          <a:lstStyle/>
          <a:p>
            <a:pPr algn="r"/>
            <a:r>
              <a:rPr lang="sv-SE" sz="3600" dirty="0"/>
              <a:t>MENGHITUNG BUNGA MAJEMUK</a:t>
            </a:r>
            <a:endParaRPr lang="en-ID" sz="36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2D9F0-A76E-47DD-8A60-091E3890715A}"/>
              </a:ext>
            </a:extLst>
          </p:cNvPr>
          <p:cNvSpPr txBox="1"/>
          <p:nvPr/>
        </p:nvSpPr>
        <p:spPr>
          <a:xfrm>
            <a:off x="3794760" y="3244334"/>
            <a:ext cx="792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Oleh: 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Sandy </a:t>
            </a: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Muhammadiansyah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S.E., M.M.</a:t>
            </a:r>
            <a:endParaRPr lang="en-ID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5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EE59-AB23-67BF-74B4-4170B209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0588D4-F8FE-2BE0-DDB8-6B0865DE7658}"/>
              </a:ext>
            </a:extLst>
          </p:cNvPr>
          <p:cNvSpPr txBox="1"/>
          <p:nvPr/>
        </p:nvSpPr>
        <p:spPr>
          <a:xfrm>
            <a:off x="694602" y="185059"/>
            <a:ext cx="111743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</a:rPr>
              <a:t>MATERI PERTEMUAN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 : </a:t>
            </a:r>
            <a:r>
              <a:rPr lang="en-US" sz="2400" dirty="0" err="1">
                <a:latin typeface="Bahnschrift SemiLight" panose="020B0502040204020203" pitchFamily="34" charset="0"/>
              </a:rPr>
              <a:t>Konsep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dasar</a:t>
            </a:r>
            <a:r>
              <a:rPr lang="en-US" sz="2400" dirty="0"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latin typeface="Bahnschrift SemiLight" panose="020B0502040204020203" pitchFamily="34" charset="0"/>
              </a:rPr>
              <a:t>sifat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matematika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ekonomi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2 : Barisan &amp; </a:t>
            </a:r>
            <a:r>
              <a:rPr lang="en-US" sz="2400" dirty="0" err="1">
                <a:latin typeface="Bahnschrift SemiLight" panose="020B0502040204020203" pitchFamily="34" charset="0"/>
              </a:rPr>
              <a:t>deret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3 : </a:t>
            </a:r>
            <a:r>
              <a:rPr lang="en-US" sz="2400" dirty="0" err="1">
                <a:latin typeface="Bahnschrift SemiLight" panose="020B0502040204020203" pitchFamily="34" charset="0"/>
              </a:rPr>
              <a:t>Menghitung</a:t>
            </a:r>
            <a:r>
              <a:rPr lang="en-US" sz="2400" dirty="0">
                <a:latin typeface="Bahnschrift SemiLight" panose="020B0502040204020203" pitchFamily="34" charset="0"/>
              </a:rPr>
              <a:t> bunga </a:t>
            </a:r>
            <a:r>
              <a:rPr lang="en-US" sz="2400" dirty="0" err="1">
                <a:latin typeface="Bahnschrift SemiLight" panose="020B0502040204020203" pitchFamily="34" charset="0"/>
              </a:rPr>
              <a:t>tunggal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4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: </a:t>
            </a:r>
            <a:r>
              <a:rPr lang="en-US" sz="2400" dirty="0" err="1">
                <a:latin typeface="Bahnschrift SemiLight" panose="020B0502040204020203" pitchFamily="34" charset="0"/>
              </a:rPr>
              <a:t>Menghitung</a:t>
            </a:r>
            <a:r>
              <a:rPr lang="en-US" sz="2400" dirty="0">
                <a:latin typeface="Bahnschrift SemiLight" panose="020B0502040204020203" pitchFamily="34" charset="0"/>
              </a:rPr>
              <a:t> bunga </a:t>
            </a:r>
            <a:r>
              <a:rPr lang="en-US" sz="2400" dirty="0" err="1">
                <a:latin typeface="Bahnschrift SemiLight" panose="020B0502040204020203" pitchFamily="34" charset="0"/>
              </a:rPr>
              <a:t>majemuk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5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linier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6 : </a:t>
            </a:r>
            <a:r>
              <a:rPr lang="sv-SE" sz="2400" dirty="0">
                <a:latin typeface="Bahnschrift SemiLight" panose="020B0502040204020203" pitchFamily="34" charset="0"/>
              </a:rPr>
              <a:t>Fungsi non linier</a:t>
            </a:r>
          </a:p>
          <a:p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7 : </a:t>
            </a:r>
            <a:r>
              <a:rPr lang="sv-SE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kasus &amp; aplikasi ekonomi</a:t>
            </a:r>
          </a:p>
          <a:p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8 : </a:t>
            </a:r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Ujian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Tengah Semester (UTS)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9 : Limit</a:t>
            </a:r>
            <a:endParaRPr lang="en-ID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10 : </a:t>
            </a:r>
            <a:r>
              <a:rPr lang="en-US" sz="2400" dirty="0" err="1">
                <a:latin typeface="Bahnschrift SemiLight" panose="020B0502040204020203" pitchFamily="34" charset="0"/>
              </a:rPr>
              <a:t>Diferensial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11 :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kasus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aplikasi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ekonomi</a:t>
            </a:r>
            <a:endParaRPr lang="en-US" sz="2400" dirty="0">
              <a:solidFill>
                <a:srgbClr val="92D050"/>
              </a:solidFill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12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permintaan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13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penawaran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14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konsumsi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15 :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kasus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aplikasi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ekonomi</a:t>
            </a:r>
            <a:endParaRPr lang="en-US" sz="2400" dirty="0">
              <a:solidFill>
                <a:srgbClr val="92D050"/>
              </a:solidFill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16 : </a:t>
            </a:r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Ujian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Akhir Semester (UAS)</a:t>
            </a:r>
            <a:endParaRPr lang="sv-SE" sz="2400" dirty="0">
              <a:solidFill>
                <a:srgbClr val="FFFF00"/>
              </a:solidFill>
              <a:latin typeface="Bahnschrift SemiLight" panose="020B0502040204020203" pitchFamily="34" charset="0"/>
            </a:endParaRPr>
          </a:p>
          <a:p>
            <a:endParaRPr lang="en-ID" sz="2400" dirty="0">
              <a:latin typeface="Bahnschrift SemiLight" panose="020B050204020402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B0542C5-8C11-E302-CDEA-F020BE611C1D}"/>
              </a:ext>
            </a:extLst>
          </p:cNvPr>
          <p:cNvSpPr/>
          <p:nvPr/>
        </p:nvSpPr>
        <p:spPr>
          <a:xfrm>
            <a:off x="6675120" y="1783080"/>
            <a:ext cx="219456" cy="219456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233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3B6A03-74AD-B3C9-45FC-A01DE9050259}"/>
              </a:ext>
            </a:extLst>
          </p:cNvPr>
          <p:cNvSpPr txBox="1"/>
          <p:nvPr/>
        </p:nvSpPr>
        <p:spPr>
          <a:xfrm>
            <a:off x="2076450" y="4897469"/>
            <a:ext cx="8039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ahnschrift SemiLight" panose="020B0502040204020203" pitchFamily="34" charset="0"/>
              </a:rPr>
              <a:t>Bunga bank </a:t>
            </a:r>
            <a:r>
              <a:rPr lang="en-US" sz="3200" dirty="0" err="1">
                <a:latin typeface="Bahnschrift SemiLight" panose="020B0502040204020203" pitchFamily="34" charset="0"/>
              </a:rPr>
              <a:t>bisa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diartikan</a:t>
            </a:r>
            <a:r>
              <a:rPr lang="en-US" sz="3200" dirty="0">
                <a:latin typeface="Bahnschrift SemiLight" panose="020B0502040204020203" pitchFamily="34" charset="0"/>
              </a:rPr>
              <a:t> 2 </a:t>
            </a:r>
            <a:r>
              <a:rPr lang="en-US" sz="3200" dirty="0" err="1">
                <a:latin typeface="Bahnschrift SemiLight" panose="020B0502040204020203" pitchFamily="34" charset="0"/>
              </a:rPr>
              <a:t>hal</a:t>
            </a:r>
            <a:r>
              <a:rPr lang="en-US" sz="3200" dirty="0">
                <a:latin typeface="Bahnschrift SemiLight" panose="020B0502040204020203" pitchFamily="34" charset="0"/>
              </a:rPr>
              <a:t>, </a:t>
            </a:r>
            <a:r>
              <a:rPr lang="en-US" sz="3200" dirty="0" err="1">
                <a:latin typeface="Bahnschrift SemiLight" panose="020B0502040204020203" pitchFamily="34" charset="0"/>
              </a:rPr>
              <a:t>yaitu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simpanan</a:t>
            </a:r>
            <a:r>
              <a:rPr lang="en-US" sz="32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3200" dirty="0">
                <a:latin typeface="Bahnschrift SemiLight" panose="020B0502040204020203" pitchFamily="34" charset="0"/>
              </a:rPr>
              <a:t>dan </a:t>
            </a:r>
            <a:r>
              <a:rPr lang="en-US" sz="3200" dirty="0">
                <a:solidFill>
                  <a:srgbClr val="FFC000"/>
                </a:solidFill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solidFill>
                  <a:srgbClr val="FFC000"/>
                </a:solidFill>
                <a:latin typeface="Bahnschrift SemiLight" panose="020B0502040204020203" pitchFamily="34" charset="0"/>
              </a:rPr>
              <a:t>kredit</a:t>
            </a:r>
            <a:endParaRPr lang="en-ID" sz="3200" b="1" dirty="0">
              <a:solidFill>
                <a:srgbClr val="FFC00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0F66E-D1D5-14B4-5E95-D83DC7042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739" y="650331"/>
            <a:ext cx="2820505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04E1-BB91-D904-BA76-3740B7F5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87EC-DA3B-1895-9734-5CF45F2CC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4168" y="143235"/>
            <a:ext cx="8951976" cy="1008909"/>
          </a:xfrm>
        </p:spPr>
        <p:txBody>
          <a:bodyPr>
            <a:normAutofit fontScale="90000"/>
          </a:bodyPr>
          <a:lstStyle/>
          <a:p>
            <a:pPr algn="r"/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Minggu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lalu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kita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telah</a:t>
            </a:r>
            <a:b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mempelajari</a:t>
            </a:r>
            <a:r>
              <a:rPr lang="en-US" sz="3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bunga </a:t>
            </a:r>
            <a:r>
              <a:rPr lang="en-US" sz="3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tunggal</a:t>
            </a:r>
            <a:endParaRPr lang="en-ID" sz="3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9B4D3B-9F35-6E4B-DDFC-7AE8CEF5ED1F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3EE2B-C82A-A827-3651-158B9E7F4A92}"/>
              </a:ext>
            </a:extLst>
          </p:cNvPr>
          <p:cNvSpPr txBox="1"/>
          <p:nvPr/>
        </p:nvSpPr>
        <p:spPr>
          <a:xfrm>
            <a:off x="502920" y="1755648"/>
            <a:ext cx="1099108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ahnschrift SemiLight" panose="020B0502040204020203" pitchFamily="34" charset="0"/>
              </a:rPr>
              <a:t>Besaran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latin typeface="Bahnschrift SemiLight" panose="020B0502040204020203" pitchFamily="34" charset="0"/>
              </a:rPr>
              <a:t>dari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suatu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dapat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dihitung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formulasi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berikut</a:t>
            </a:r>
            <a:r>
              <a:rPr lang="en-US" sz="3200" dirty="0">
                <a:latin typeface="Bahnschrift SemiLight" panose="020B0502040204020203" pitchFamily="34" charset="0"/>
              </a:rPr>
              <a:t>:</a:t>
            </a:r>
          </a:p>
          <a:p>
            <a:endParaRPr lang="en-US" sz="3200" i="1" dirty="0">
              <a:latin typeface="Bahnschrift SemiLight" panose="020B0502040204020203" pitchFamily="34" charset="0"/>
            </a:endParaRPr>
          </a:p>
          <a:p>
            <a:r>
              <a:rPr lang="en-US" sz="3200" i="1" dirty="0">
                <a:latin typeface="Bahnschrift SemiLight" panose="020B0502040204020203" pitchFamily="34" charset="0"/>
              </a:rPr>
              <a:t>									</a:t>
            </a:r>
            <a:r>
              <a:rPr lang="en-US" sz="40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I = P . R . t</a:t>
            </a:r>
          </a:p>
          <a:p>
            <a:endParaRPr lang="en-US" sz="3200" i="1" dirty="0">
              <a:latin typeface="Bahnschrift SemiLight" panose="020B0502040204020203" pitchFamily="34" charset="0"/>
            </a:endParaRPr>
          </a:p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Dimana:  </a:t>
            </a:r>
            <a:r>
              <a:rPr lang="en-US" sz="3200" dirty="0">
                <a:latin typeface="Bahnschrift SemiLight" panose="020B0502040204020203" pitchFamily="34" charset="0"/>
              </a:rPr>
              <a:t>	</a:t>
            </a:r>
            <a:r>
              <a:rPr lang="en-US" sz="3200" i="1" dirty="0">
                <a:latin typeface="Bahnschrift SemiLight" panose="020B0502040204020203" pitchFamily="34" charset="0"/>
              </a:rPr>
              <a:t>I</a:t>
            </a:r>
            <a:r>
              <a:rPr lang="en-US" sz="3200" dirty="0">
                <a:latin typeface="Bahnschrift SemiLight" panose="020B0502040204020203" pitchFamily="34" charset="0"/>
              </a:rPr>
              <a:t> 	= bunga (Rp)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P</a:t>
            </a:r>
            <a:r>
              <a:rPr lang="en-US" sz="3200" dirty="0">
                <a:latin typeface="Bahnschrift SemiLight" panose="020B0502040204020203" pitchFamily="34" charset="0"/>
              </a:rPr>
              <a:t> 	= </a:t>
            </a:r>
            <a:r>
              <a:rPr lang="en-US" sz="3200" dirty="0" err="1">
                <a:latin typeface="Bahnschrift SemiLight" panose="020B0502040204020203" pitchFamily="34" charset="0"/>
              </a:rPr>
              <a:t>pokok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(Rp)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r</a:t>
            </a:r>
            <a:r>
              <a:rPr lang="en-US" sz="3200" dirty="0">
                <a:latin typeface="Bahnschrift SemiLight" panose="020B0502040204020203" pitchFamily="34" charset="0"/>
              </a:rPr>
              <a:t> 	= </a:t>
            </a:r>
            <a:r>
              <a:rPr lang="en-US" sz="3200" dirty="0" err="1">
                <a:latin typeface="Bahnschrift SemiLight" panose="020B0502040204020203" pitchFamily="34" charset="0"/>
              </a:rPr>
              <a:t>tingkat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(%)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t </a:t>
            </a:r>
            <a:r>
              <a:rPr lang="en-US" sz="3200" dirty="0">
                <a:latin typeface="Bahnschrift SemiLight" panose="020B0502040204020203" pitchFamily="34" charset="0"/>
              </a:rPr>
              <a:t>	= lama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dirty="0" err="1">
                <a:latin typeface="Bahnschrift SemiLight" panose="020B0502040204020203" pitchFamily="34" charset="0"/>
              </a:rPr>
              <a:t>tahun</a:t>
            </a:r>
            <a:r>
              <a:rPr lang="en-US" sz="3200" dirty="0">
                <a:latin typeface="Bahnschrift SemiLight" panose="020B0502040204020203" pitchFamily="34" charset="0"/>
              </a:rPr>
              <a:t>)</a:t>
            </a:r>
            <a:endParaRPr lang="en-ID" sz="3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08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BAD4-5B14-6222-6126-D98C894E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48A7-FFE9-3571-D4CC-655E56BFB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298683"/>
            <a:ext cx="8951976" cy="1008909"/>
          </a:xfrm>
        </p:spPr>
        <p:txBody>
          <a:bodyPr>
            <a:normAutofit/>
          </a:bodyPr>
          <a:lstStyle/>
          <a:p>
            <a:r>
              <a:rPr lang="en-US" sz="4800" b="1" dirty="0"/>
              <a:t>Jenis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Bunga </a:t>
            </a:r>
            <a:r>
              <a:rPr lang="en-US" sz="4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Majemuk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46CAE2-06B4-9A57-2B52-DC894C894044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41D10-95D9-BBB5-0AAC-B2DC9746DBC4}"/>
              </a:ext>
            </a:extLst>
          </p:cNvPr>
          <p:cNvSpPr txBox="1"/>
          <p:nvPr/>
        </p:nvSpPr>
        <p:spPr>
          <a:xfrm>
            <a:off x="502920" y="1755648"/>
            <a:ext cx="112288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latin typeface="Bahnschrift SemiLight" panose="020B0502040204020203" pitchFamily="34" charset="0"/>
              </a:rPr>
              <a:t>majemuk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dibedakan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menjadi</a:t>
            </a:r>
            <a:r>
              <a:rPr lang="en-US" sz="3200" dirty="0">
                <a:latin typeface="Bahnschrift SemiLight" panose="020B0502040204020203" pitchFamily="34" charset="0"/>
              </a:rPr>
              <a:t> dua </a:t>
            </a:r>
            <a:r>
              <a:rPr lang="en-US" sz="3200" dirty="0" err="1">
                <a:latin typeface="Bahnschrift SemiLight" panose="020B0502040204020203" pitchFamily="34" charset="0"/>
              </a:rPr>
              <a:t>yaitu</a:t>
            </a:r>
            <a:r>
              <a:rPr lang="en-US" sz="3200" dirty="0">
                <a:latin typeface="Bahnschrift SemiLight" panose="020B0502040204020203" pitchFamily="34" charset="0"/>
              </a:rPr>
              <a:t>:</a:t>
            </a:r>
          </a:p>
          <a:p>
            <a:pPr marL="514350" indent="-514350" algn="just">
              <a:buAutoNum type="arabicPeriod"/>
            </a:pPr>
            <a:r>
              <a:rPr lang="en-US" sz="3200" dirty="0"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latin typeface="Bahnschrift SemiLight" panose="020B0502040204020203" pitchFamily="34" charset="0"/>
              </a:rPr>
              <a:t>majemuk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tetap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i="1" dirty="0">
                <a:latin typeface="Bahnschrift SemiLight" panose="020B0502040204020203" pitchFamily="34" charset="0"/>
              </a:rPr>
              <a:t>fixed interest rate</a:t>
            </a:r>
            <a:r>
              <a:rPr lang="en-US" sz="3200" dirty="0">
                <a:latin typeface="Bahnschrift SemiLight" panose="020B0502040204020203" pitchFamily="34" charset="0"/>
              </a:rPr>
              <a:t>), </a:t>
            </a:r>
            <a:r>
              <a:rPr lang="en-US" sz="3200" dirty="0" err="1">
                <a:latin typeface="Bahnschrift SemiLight" panose="020B0502040204020203" pitchFamily="34" charset="0"/>
              </a:rPr>
              <a:t>artinya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yang </a:t>
            </a:r>
            <a:r>
              <a:rPr lang="en-US" sz="3200" dirty="0" err="1">
                <a:latin typeface="Bahnschrift SemiLight" panose="020B0502040204020203" pitchFamily="34" charset="0"/>
              </a:rPr>
              <a:t>ditetapkan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tidak</a:t>
            </a:r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akan</a:t>
            </a:r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berubah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selama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jangka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waktu</a:t>
            </a:r>
            <a:r>
              <a:rPr lang="en-US" sz="3200" dirty="0">
                <a:latin typeface="Bahnschrift SemiLight" panose="020B0502040204020203" pitchFamily="34" charset="0"/>
              </a:rPr>
              <a:t> yang </a:t>
            </a:r>
            <a:r>
              <a:rPr lang="en-US" sz="3200" dirty="0" err="1">
                <a:latin typeface="Bahnschrift SemiLight" panose="020B0502040204020203" pitchFamily="34" charset="0"/>
              </a:rPr>
              <a:t>telah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disepakati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bersama</a:t>
            </a:r>
            <a:r>
              <a:rPr lang="en-US" sz="3200" dirty="0">
                <a:latin typeface="Bahnschrift SemiLight" panose="020B0502040204020203" pitchFamily="34" charset="0"/>
              </a:rPr>
              <a:t>.</a:t>
            </a:r>
          </a:p>
          <a:p>
            <a:pPr marL="514350" indent="-514350" algn="just">
              <a:buAutoNum type="arabicPeriod"/>
            </a:pPr>
            <a:r>
              <a:rPr lang="en-US" sz="3200" dirty="0"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latin typeface="Bahnschrift SemiLight" panose="020B0502040204020203" pitchFamily="34" charset="0"/>
              </a:rPr>
              <a:t>majemuk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mengambang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i="1" dirty="0">
                <a:latin typeface="Bahnschrift SemiLight" panose="020B0502040204020203" pitchFamily="34" charset="0"/>
              </a:rPr>
              <a:t>floating interest rate</a:t>
            </a:r>
            <a:r>
              <a:rPr lang="en-US" sz="3200" dirty="0">
                <a:latin typeface="Bahnschrift SemiLight" panose="020B0502040204020203" pitchFamily="34" charset="0"/>
              </a:rPr>
              <a:t>), </a:t>
            </a:r>
            <a:r>
              <a:rPr lang="en-US" sz="3200" dirty="0" err="1">
                <a:latin typeface="Bahnschrift SemiLight" panose="020B0502040204020203" pitchFamily="34" charset="0"/>
              </a:rPr>
              <a:t>artinya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latin typeface="Bahnschrift SemiLight" panose="020B0502040204020203" pitchFamily="34" charset="0"/>
              </a:rPr>
              <a:t>dapat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mengalami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perubahan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atau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fluktuasi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sesuai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ketentuan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perbankan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atau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pasar.</a:t>
            </a:r>
            <a:endParaRPr lang="en-ID" sz="3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23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B2F1E-9188-39AF-62D7-91992AFB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3E8ACA-6F3C-5414-2660-F305F2035B41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DDA15-68E6-418A-40C7-874EC3CA2E8D}"/>
                  </a:ext>
                </a:extLst>
              </p:cNvPr>
              <p:cNvSpPr txBox="1"/>
              <p:nvPr/>
            </p:nvSpPr>
            <p:spPr>
              <a:xfrm>
                <a:off x="502920" y="1307592"/>
                <a:ext cx="11320272" cy="5348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Bahnschrift SemiLight" panose="020B0502040204020203" pitchFamily="34" charset="0"/>
                  </a:rPr>
                  <a:t>Besaran bunga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majemuk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dari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suatu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pinjaman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dapat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dihitung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formulasi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berikut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:</a:t>
                </a:r>
              </a:p>
              <a:p>
                <a:endParaRPr lang="en-US" sz="3200" i="1" dirty="0">
                  <a:latin typeface="Bahnschrift SemiLight" panose="020B0502040204020203" pitchFamily="34" charset="0"/>
                </a:endParaRPr>
              </a:p>
              <a:p>
                <a:r>
                  <a:rPr lang="en-US" sz="3200" i="1" dirty="0">
                    <a:latin typeface="Bahnschrift SemiLight" panose="020B0502040204020203" pitchFamily="34" charset="0"/>
                  </a:rPr>
                  <a:t>									</a:t>
                </a:r>
                <a:r>
                  <a:rPr lang="en-US" sz="4000" i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A = P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4000" i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 ) </a:t>
                </a:r>
                <a:r>
                  <a:rPr lang="en-US" sz="4000" i="1" baseline="30000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m.n</a:t>
                </a:r>
                <a:endParaRPr lang="en-US" sz="4000" i="1" baseline="300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endParaRPr lang="en-US" sz="3200" i="1" dirty="0">
                  <a:latin typeface="Bahnschrift SemiLight" panose="020B0502040204020203" pitchFamily="34" charset="0"/>
                </a:endParaRPr>
              </a:p>
              <a:p>
                <a:r>
                  <a:rPr lang="en-US" sz="3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Dimana:  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A</a:t>
                </a:r>
                <a:r>
                  <a:rPr lang="en-US" sz="3200" baseline="-25000" dirty="0">
                    <a:latin typeface="Bahnschrift SemiLight" panose="020B0502040204020203" pitchFamily="34" charset="0"/>
                  </a:rPr>
                  <a:t>	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=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akumulasi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pada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akhir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periode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ke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-n (Rp)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P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	=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pokok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pinjaman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(Rp)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r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=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tingkat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bunga (%)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m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=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periode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pembungaan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bunga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dalam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setahun</a:t>
                </a:r>
                <a:endParaRPr lang="en-US" sz="3200" dirty="0">
                  <a:latin typeface="Bahnschrift SemiLight" panose="020B0502040204020203" pitchFamily="34" charset="0"/>
                </a:endParaRP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= lama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pinjaman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(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)</a:t>
                </a:r>
                <a:endParaRPr lang="en-ID" sz="3200" dirty="0">
                  <a:latin typeface="Bahnschrift Semi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DDDA15-68E6-418A-40C7-874EC3CA2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07592"/>
                <a:ext cx="11320272" cy="5348002"/>
              </a:xfrm>
              <a:prstGeom prst="rect">
                <a:avLst/>
              </a:prstGeom>
              <a:blipFill>
                <a:blip r:embed="rId2"/>
                <a:stretch>
                  <a:fillRect l="-1400" t="-1596" r="-323" b="-285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F6A7E102-C00B-411B-02E8-E21390E94156}"/>
              </a:ext>
            </a:extLst>
          </p:cNvPr>
          <p:cNvSpPr txBox="1">
            <a:spLocks/>
          </p:cNvSpPr>
          <p:nvPr/>
        </p:nvSpPr>
        <p:spPr>
          <a:xfrm>
            <a:off x="502920" y="127491"/>
            <a:ext cx="9637776" cy="1008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 err="1"/>
              <a:t>Rumus</a:t>
            </a:r>
            <a:r>
              <a:rPr lang="en-US" sz="4800" b="1" dirty="0"/>
              <a:t> </a:t>
            </a:r>
            <a:r>
              <a:rPr lang="en-US" sz="4800" b="1" dirty="0" err="1"/>
              <a:t>dasar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Bunga </a:t>
            </a:r>
            <a:r>
              <a:rPr lang="en-US" sz="4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Majemuk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249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D1F4-561E-579C-25A3-B76D82A9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0290-B663-A7E9-6045-E3090AB72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57422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</a:t>
            </a:r>
            <a:r>
              <a:rPr lang="en-US" sz="3600" b="1" dirty="0" err="1">
                <a:solidFill>
                  <a:srgbClr val="FFFF00"/>
                </a:solidFill>
              </a:rPr>
              <a:t>majemuk</a:t>
            </a:r>
            <a:r>
              <a:rPr lang="en-US" sz="3600" b="1" dirty="0">
                <a:solidFill>
                  <a:srgbClr val="FFFF00"/>
                </a:solidFill>
              </a:rPr>
              <a:t> #1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6D4045-7BAF-F1F6-A50D-1ABA706F7D46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20402-3203-BA24-DF55-9BD42334A9E3}"/>
                  </a:ext>
                </a:extLst>
              </p:cNvPr>
              <p:cNvSpPr txBox="1"/>
              <p:nvPr/>
            </p:nvSpPr>
            <p:spPr>
              <a:xfrm>
                <a:off x="301752" y="976306"/>
                <a:ext cx="8549640" cy="547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latin typeface="Bahnschrift SemiLight" panose="020B0502040204020203" pitchFamily="34" charset="0"/>
                  </a:rPr>
                  <a:t>Ibu Lorenza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meminjam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uang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Rp.5.000.000,-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12% per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.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Apabila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pembungaan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setiap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6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sekali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,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akumulasi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pada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akhir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ketiga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!</a:t>
                </a: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Rp.5.000.000,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 12% = 0,12,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m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2,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3</a:t>
                </a:r>
              </a:p>
              <a:p>
                <a:pPr algn="just"/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Periode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pembungaan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(m) = 2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karena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perhitungan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bunga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sebanyak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2 kali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dalam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setahun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(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setiap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6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)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	= 5.000.000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)</a:t>
                </a:r>
                <a:r>
                  <a:rPr lang="en-US" baseline="15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2x3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5.000.000 ( 1 + 0,06)</a:t>
                </a:r>
                <a:r>
                  <a:rPr lang="en-US" sz="2400" baseline="30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6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5.000.000 ( 1,06 )</a:t>
                </a:r>
                <a:r>
                  <a:rPr lang="en-US" sz="2400" baseline="30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6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5.000.000 ( 1,42 ) = 7.100.000</a:t>
                </a: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jumlah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uang yang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harus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disetor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Ibu Lorenza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ke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koperasi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 7.100.000,-.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20402-3203-BA24-DF55-9BD42334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976306"/>
                <a:ext cx="8549640" cy="5477525"/>
              </a:xfrm>
              <a:prstGeom prst="rect">
                <a:avLst/>
              </a:prstGeom>
              <a:blipFill>
                <a:blip r:embed="rId2"/>
                <a:stretch>
                  <a:fillRect l="-1498" t="-1224" r="-2068" b="-15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29408B2-2777-AEB5-136E-908C38A59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08" y="3126164"/>
            <a:ext cx="3206660" cy="320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1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D904-CBA8-2BF5-70BF-C2F5D44B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05EA-AE41-EA34-B099-5A58873E3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57422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</a:t>
            </a:r>
            <a:r>
              <a:rPr lang="en-US" sz="3600" b="1" dirty="0" err="1">
                <a:solidFill>
                  <a:srgbClr val="FFFF00"/>
                </a:solidFill>
              </a:rPr>
              <a:t>majemuk</a:t>
            </a:r>
            <a:r>
              <a:rPr lang="en-US" sz="3600" b="1" dirty="0">
                <a:solidFill>
                  <a:srgbClr val="FFFF00"/>
                </a:solidFill>
              </a:rPr>
              <a:t> #2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265684-1A94-8E75-B912-3EB16095999C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BBD2D-F8E6-567F-A710-F2FC5B959765}"/>
                  </a:ext>
                </a:extLst>
              </p:cNvPr>
              <p:cNvSpPr txBox="1"/>
              <p:nvPr/>
            </p:nvSpPr>
            <p:spPr>
              <a:xfrm>
                <a:off x="164592" y="976306"/>
                <a:ext cx="8851392" cy="5531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latin typeface="Bahnschrift SemiLight" panose="020B0502040204020203" pitchFamily="34" charset="0"/>
                  </a:rPr>
                  <a:t>Ibu Jiran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menginvestasikan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uangnya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sejumlah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Rp.10.000.000,- dan pada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akhir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kedua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menjadi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Rp.11.700.000,-. Jika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perhitungan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per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enam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,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Tingkat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yang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dikenakan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per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.</a:t>
                </a:r>
              </a:p>
              <a:p>
                <a:pPr algn="just"/>
                <a:endParaRPr lang="en-US" sz="24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rgbClr val="FFFF00"/>
                    </a:solidFill>
                    <a:latin typeface="Bahnschrift SemiLight" panose="020B0502040204020203" pitchFamily="34" charset="0"/>
                  </a:rPr>
                  <a:t>JAWABAN:</a:t>
                </a:r>
              </a:p>
              <a:p>
                <a:pPr algn="just"/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Karena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perhitungan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buka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per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enam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,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maka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pembungaan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akan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sebanyak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4 kali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selama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2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,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:</a:t>
                </a:r>
              </a:p>
              <a:p>
                <a:pPr algn="just"/>
                <a:endParaRPr lang="en-US" sz="24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r>
                  <a:rPr lang="en-US" sz="2400" i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A = P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 ) </a:t>
                </a:r>
                <a:r>
                  <a:rPr lang="en-US" sz="2400" i="1" baseline="30000" dirty="0" err="1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m.n</a:t>
                </a:r>
                <a:endParaRPr lang="en-US" sz="2400" i="1" baseline="300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2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11.700.000 = 10.000.000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) </a:t>
                </a:r>
                <a:r>
                  <a:rPr lang="en-US" sz="2200" baseline="15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2.2 </a:t>
                </a:r>
                <a:r>
                  <a:rPr lang="en-US" sz="22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1200" dirty="0">
                    <a:solidFill>
                      <a:srgbClr val="FFFF00"/>
                    </a:solidFill>
                    <a:latin typeface="Bahnschrift SemiLight" panose="020B0502040204020203" pitchFamily="34" charset="0"/>
                  </a:rPr>
                  <a:t>JADI</a:t>
                </a:r>
                <a:r>
                  <a:rPr lang="en-US" sz="22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11.700.000 = 10.000.000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) </a:t>
                </a:r>
                <a:r>
                  <a:rPr lang="en-US" sz="2200" baseline="15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4 </a:t>
                </a:r>
                <a:endParaRPr lang="en-US" sz="2200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Bahnschrift Semi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BBD2D-F8E6-567F-A710-F2FC5B959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" y="976306"/>
                <a:ext cx="8851392" cy="5531322"/>
              </a:xfrm>
              <a:prstGeom prst="rect">
                <a:avLst/>
              </a:prstGeom>
              <a:blipFill>
                <a:blip r:embed="rId2"/>
                <a:stretch>
                  <a:fillRect l="-1377" t="-1211" r="-19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7968568-A83C-8BF9-82D0-EE4FD2346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08" y="3126164"/>
            <a:ext cx="3206660" cy="320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2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6360-6B97-57A6-91C0-52201838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F003-3FA4-E547-14DE-9A6271748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57422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Lanjutan</a:t>
            </a:r>
            <a:r>
              <a:rPr lang="en-US" sz="3600" b="1" dirty="0">
                <a:solidFill>
                  <a:srgbClr val="FFFF00"/>
                </a:solidFill>
              </a:rPr>
              <a:t>…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CFD7FF-8D2D-2EF9-9729-FCFAC189125B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80A803-6250-FC07-F2D2-CD24F87686B4}"/>
                  </a:ext>
                </a:extLst>
              </p:cNvPr>
              <p:cNvSpPr txBox="1"/>
              <p:nvPr/>
            </p:nvSpPr>
            <p:spPr>
              <a:xfrm>
                <a:off x="301752" y="976306"/>
                <a:ext cx="7818120" cy="5470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r>
                  <a:rPr lang="en-US" sz="28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11.700.000 = 10.000.000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) </a:t>
                </a:r>
                <a:r>
                  <a:rPr lang="en-US" sz="2800" baseline="15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4</a:t>
                </a:r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)</a:t>
                </a:r>
                <a:r>
                  <a:rPr lang="en-US" sz="2400" baseline="30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4 </a:t>
                </a:r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11.700.000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10.000.000</m:t>
                        </m:r>
                      </m:den>
                    </m:f>
                  </m:oMath>
                </a14:m>
                <a:endParaRPr lang="en-US" sz="2400" baseline="30000" dirty="0">
                  <a:latin typeface="Bahnschrift SemiLight" panose="020B0502040204020203" pitchFamily="34" charset="0"/>
                </a:endParaRPr>
              </a:p>
              <a:p>
                <a:pPr algn="just"/>
                <a:endParaRPr lang="en-US" sz="2400" baseline="300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= </a:t>
                </a:r>
                <a:r>
                  <a:rPr lang="en-US" sz="2400" baseline="30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4</a:t>
                </a:r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11.700.000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10.000.000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</a:t>
                </a:r>
              </a:p>
              <a:p>
                <a:pPr algn="just"/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2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= </a:t>
                </a:r>
                <a:r>
                  <a:rPr lang="en-US" sz="2400" baseline="300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4</a:t>
                </a:r>
                <a:r>
                  <a:rPr lang="en-US" sz="2400" dirty="0"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1,17</m:t>
                    </m:r>
                  </m:oMath>
                </a14:m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r	= 2 (1,04 – 1) </a:t>
                </a:r>
              </a:p>
              <a:p>
                <a:pPr algn="just"/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		= 2 (0,04)</a:t>
                </a:r>
              </a:p>
              <a:p>
                <a:pPr algn="just"/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		= 0,08 = 8%</a:t>
                </a:r>
              </a:p>
              <a:p>
                <a:pPr algn="just"/>
                <a:endParaRPr lang="en-US" sz="24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Jadi,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tingkat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bunga yang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ditetapkan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per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8%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80A803-6250-FC07-F2D2-CD24F8768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976306"/>
                <a:ext cx="7818120" cy="5470472"/>
              </a:xfrm>
              <a:prstGeom prst="rect">
                <a:avLst/>
              </a:prstGeom>
              <a:blipFill>
                <a:blip r:embed="rId2"/>
                <a:stretch>
                  <a:fillRect l="-1638" t="-1225" r="-2262" b="-144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465067E-F15D-3B46-46CB-7B6B6C025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08" y="3126164"/>
            <a:ext cx="3206660" cy="320666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5245918-17C2-3D76-F545-74AF6D8E3F1C}"/>
              </a:ext>
            </a:extLst>
          </p:cNvPr>
          <p:cNvSpPr/>
          <p:nvPr/>
        </p:nvSpPr>
        <p:spPr>
          <a:xfrm>
            <a:off x="1527048" y="2734056"/>
            <a:ext cx="1417320" cy="512064"/>
          </a:xfrm>
          <a:custGeom>
            <a:avLst/>
            <a:gdLst>
              <a:gd name="connsiteX0" fmla="*/ 0 w 1417320"/>
              <a:gd name="connsiteY0" fmla="*/ 365760 h 512064"/>
              <a:gd name="connsiteX1" fmla="*/ 100584 w 1417320"/>
              <a:gd name="connsiteY1" fmla="*/ 512064 h 512064"/>
              <a:gd name="connsiteX2" fmla="*/ 237744 w 1417320"/>
              <a:gd name="connsiteY2" fmla="*/ 9144 h 512064"/>
              <a:gd name="connsiteX3" fmla="*/ 1417320 w 1417320"/>
              <a:gd name="connsiteY3" fmla="*/ 0 h 51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7320" h="512064">
                <a:moveTo>
                  <a:pt x="0" y="365760"/>
                </a:moveTo>
                <a:lnTo>
                  <a:pt x="100584" y="512064"/>
                </a:lnTo>
                <a:lnTo>
                  <a:pt x="237744" y="9144"/>
                </a:lnTo>
                <a:lnTo>
                  <a:pt x="14173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387FE7A-5EB0-C6B9-A5D3-90D11FC41225}"/>
              </a:ext>
            </a:extLst>
          </p:cNvPr>
          <p:cNvSpPr/>
          <p:nvPr/>
        </p:nvSpPr>
        <p:spPr>
          <a:xfrm>
            <a:off x="1600200" y="3651964"/>
            <a:ext cx="850392" cy="512064"/>
          </a:xfrm>
          <a:custGeom>
            <a:avLst/>
            <a:gdLst>
              <a:gd name="connsiteX0" fmla="*/ 0 w 1417320"/>
              <a:gd name="connsiteY0" fmla="*/ 365760 h 512064"/>
              <a:gd name="connsiteX1" fmla="*/ 100584 w 1417320"/>
              <a:gd name="connsiteY1" fmla="*/ 512064 h 512064"/>
              <a:gd name="connsiteX2" fmla="*/ 237744 w 1417320"/>
              <a:gd name="connsiteY2" fmla="*/ 9144 h 512064"/>
              <a:gd name="connsiteX3" fmla="*/ 1417320 w 1417320"/>
              <a:gd name="connsiteY3" fmla="*/ 0 h 51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7320" h="512064">
                <a:moveTo>
                  <a:pt x="0" y="365760"/>
                </a:moveTo>
                <a:lnTo>
                  <a:pt x="100584" y="512064"/>
                </a:lnTo>
                <a:lnTo>
                  <a:pt x="237744" y="9144"/>
                </a:lnTo>
                <a:lnTo>
                  <a:pt x="141732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5818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9490-C182-EC3C-DE5E-2A13327C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F1BB-9DF7-CDBC-8B1B-B9AC77E32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57422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</a:t>
            </a:r>
            <a:r>
              <a:rPr lang="en-US" sz="3600" b="1" dirty="0" err="1">
                <a:solidFill>
                  <a:srgbClr val="FFFF00"/>
                </a:solidFill>
              </a:rPr>
              <a:t>majemuk</a:t>
            </a:r>
            <a:r>
              <a:rPr lang="en-US" sz="3600" b="1" dirty="0">
                <a:solidFill>
                  <a:srgbClr val="FFFF00"/>
                </a:solidFill>
              </a:rPr>
              <a:t> #3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C0D3FB-7BD3-9AC9-37D0-66020E349ED9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02C8C1-8D73-A7C2-41D4-23EBC5B7A824}"/>
                  </a:ext>
                </a:extLst>
              </p:cNvPr>
              <p:cNvSpPr txBox="1"/>
              <p:nvPr/>
            </p:nvSpPr>
            <p:spPr>
              <a:xfrm>
                <a:off x="301752" y="976306"/>
                <a:ext cx="8549640" cy="547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latin typeface="Bahnschrift SemiLight" panose="020B0502040204020203" pitchFamily="34" charset="0"/>
                  </a:rPr>
                  <a:t>Pak Billy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meminjam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uang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Rp.100.000.000,- di bank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untuk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jangka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waktu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3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tingkat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12%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selama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yang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dihitung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secara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harian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.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Hitunglah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jumlah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yang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harus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dibayarkan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oleh Pak Billy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jika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hutang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dilunasi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setelah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baru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berjalan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6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!</a:t>
                </a:r>
              </a:p>
              <a:p>
                <a:pPr algn="just"/>
                <a:endParaRPr lang="en-US" sz="24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Rp.100.000.000,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 0,12,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m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360,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0,5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Bunga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pinjaman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= 100.000.000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0,12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)</a:t>
                </a:r>
                <a:r>
                  <a:rPr lang="en-US" baseline="15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360x0,5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				= 100.000.000 ( 1,0003)</a:t>
                </a:r>
                <a:r>
                  <a:rPr lang="en-US" sz="2400" baseline="30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180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									= 100.000.000 ( 1,055 ) = 105.500.000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</a:t>
                </a: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jumlah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uang yang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harus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disetor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Pak Billy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ke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bank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adalah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 105.500.000,-.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02C8C1-8D73-A7C2-41D4-23EBC5B7A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976306"/>
                <a:ext cx="8549640" cy="5479833"/>
              </a:xfrm>
              <a:prstGeom prst="rect">
                <a:avLst/>
              </a:prstGeom>
              <a:blipFill>
                <a:blip r:embed="rId2"/>
                <a:stretch>
                  <a:fillRect l="-1498" t="-1224" r="-2068" b="-15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D78710-1A81-68AB-D7F4-511E7864F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21" y="3171352"/>
            <a:ext cx="3300679" cy="33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7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B182F-10E1-1384-41B3-7CDA0685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7BAD-0850-F4BE-B5A9-5455E37F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0" y="603784"/>
            <a:ext cx="9765792" cy="688874"/>
          </a:xfrm>
        </p:spPr>
        <p:txBody>
          <a:bodyPr>
            <a:noAutofit/>
          </a:bodyPr>
          <a:lstStyle/>
          <a:p>
            <a:pPr algn="r"/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Latihan Soal #1</a:t>
            </a:r>
            <a:endParaRPr lang="en-ID" sz="4400" dirty="0">
              <a:solidFill>
                <a:schemeClr val="accent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C36217-474F-00EF-C6AE-4B103A5D2FAE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D3B74-0A17-2C28-E22F-EC0C925F77E0}"/>
              </a:ext>
            </a:extLst>
          </p:cNvPr>
          <p:cNvSpPr txBox="1"/>
          <p:nvPr/>
        </p:nvSpPr>
        <p:spPr>
          <a:xfrm>
            <a:off x="438912" y="1598098"/>
            <a:ext cx="79735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Bahnschrift SemiLight" panose="020B0502040204020203" pitchFamily="34" charset="0"/>
            </a:endParaRPr>
          </a:p>
          <a:p>
            <a:pPr algn="just"/>
            <a:r>
              <a:rPr lang="en-US" sz="3600" dirty="0">
                <a:latin typeface="Bahnschrift SemiLight" panose="020B0502040204020203" pitchFamily="34" charset="0"/>
              </a:rPr>
              <a:t>Ibu Velly </a:t>
            </a:r>
            <a:r>
              <a:rPr lang="en-US" sz="3600" dirty="0" err="1">
                <a:latin typeface="Bahnschrift SemiLight" panose="020B0502040204020203" pitchFamily="34" charset="0"/>
              </a:rPr>
              <a:t>meminjam</a:t>
            </a:r>
            <a:r>
              <a:rPr lang="en-US" sz="3600" dirty="0">
                <a:latin typeface="Bahnschrift SemiLight" panose="020B0502040204020203" pitchFamily="34" charset="0"/>
              </a:rPr>
              <a:t> uang </a:t>
            </a:r>
            <a:r>
              <a:rPr lang="en-US" sz="3600" dirty="0" err="1">
                <a:latin typeface="Bahnschrift SemiLight" panose="020B0502040204020203" pitchFamily="34" charset="0"/>
              </a:rPr>
              <a:t>sebesar</a:t>
            </a:r>
            <a:r>
              <a:rPr lang="en-US" sz="3600" dirty="0">
                <a:latin typeface="Bahnschrift SemiLight" panose="020B0502040204020203" pitchFamily="34" charset="0"/>
              </a:rPr>
              <a:t> Rp.25.000.000,- </a:t>
            </a:r>
            <a:r>
              <a:rPr lang="en-US" sz="3600" dirty="0" err="1">
                <a:latin typeface="Bahnschrift SemiLight" panose="020B0502040204020203" pitchFamily="34" charset="0"/>
              </a:rPr>
              <a:t>dengan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suku</a:t>
            </a:r>
            <a:r>
              <a:rPr lang="en-US" sz="3600" dirty="0">
                <a:latin typeface="Bahnschrift SemiLight" panose="020B0502040204020203" pitchFamily="34" charset="0"/>
              </a:rPr>
              <a:t> bunga 18% per </a:t>
            </a:r>
            <a:r>
              <a:rPr lang="en-US" sz="3600" dirty="0" err="1">
                <a:latin typeface="Bahnschrift SemiLight" panose="020B0502040204020203" pitchFamily="34" charset="0"/>
              </a:rPr>
              <a:t>tahun</a:t>
            </a:r>
            <a:r>
              <a:rPr lang="en-US" sz="3600" dirty="0">
                <a:latin typeface="Bahnschrift SemiLight" panose="020B0502040204020203" pitchFamily="34" charset="0"/>
              </a:rPr>
              <a:t>. </a:t>
            </a:r>
            <a:r>
              <a:rPr lang="en-US" sz="3600" dirty="0" err="1">
                <a:latin typeface="Bahnschrift SemiLight" panose="020B0502040204020203" pitchFamily="34" charset="0"/>
              </a:rPr>
              <a:t>Apabila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pembungaan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dilakukan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setiap</a:t>
            </a:r>
            <a:r>
              <a:rPr lang="en-US" sz="3600" dirty="0">
                <a:latin typeface="Bahnschrift SemiLight" panose="020B0502040204020203" pitchFamily="34" charset="0"/>
              </a:rPr>
              <a:t> 1 </a:t>
            </a:r>
            <a:r>
              <a:rPr lang="en-US" sz="3600" dirty="0" err="1">
                <a:latin typeface="Bahnschrift SemiLight" panose="020B0502040204020203" pitchFamily="34" charset="0"/>
              </a:rPr>
              <a:t>bulan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sekali</a:t>
            </a:r>
            <a:r>
              <a:rPr lang="en-US" sz="3600" dirty="0">
                <a:latin typeface="Bahnschrift SemiLight" panose="020B0502040204020203" pitchFamily="34" charset="0"/>
              </a:rPr>
              <a:t>, </a:t>
            </a:r>
            <a:r>
              <a:rPr lang="en-US" sz="3600" dirty="0" err="1">
                <a:latin typeface="Bahnschrift SemiLight" panose="020B0502040204020203" pitchFamily="34" charset="0"/>
              </a:rPr>
              <a:t>tentukanlah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nilai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akumulasi</a:t>
            </a:r>
            <a:r>
              <a:rPr lang="en-US" sz="3600" dirty="0">
                <a:latin typeface="Bahnschrift SemiLight" panose="020B0502040204020203" pitchFamily="34" charset="0"/>
              </a:rPr>
              <a:t> pada 6 </a:t>
            </a:r>
            <a:r>
              <a:rPr lang="en-US" sz="3600" dirty="0" err="1">
                <a:latin typeface="Bahnschrift SemiLight" panose="020B0502040204020203" pitchFamily="34" charset="0"/>
              </a:rPr>
              <a:t>bulan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pertama</a:t>
            </a:r>
            <a:r>
              <a:rPr lang="en-US" sz="3600" dirty="0">
                <a:latin typeface="Bahnschrift SemiLight" panose="020B0502040204020203" pitchFamily="34" charset="0"/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1B539-A23A-89C5-B7BC-FBBA2305D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7" y="2328671"/>
            <a:ext cx="3236671" cy="32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7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07A3-9F9D-510F-D344-D5F40A17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BE70-F477-874D-9A44-0F26880E3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0" y="213264"/>
            <a:ext cx="9765792" cy="688874"/>
          </a:xfrm>
        </p:spPr>
        <p:txBody>
          <a:bodyPr>
            <a:noAutofit/>
          </a:bodyPr>
          <a:lstStyle/>
          <a:p>
            <a:pPr algn="r"/>
            <a:r>
              <a:rPr lang="en-US" sz="4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Jawaban</a:t>
            </a:r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 Latihan Soal #1</a:t>
            </a:r>
            <a:endParaRPr lang="en-ID" sz="4400" dirty="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6FDB43-8DE2-90BC-D795-88A4B4F2AAFA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5A55F-2D15-91FF-2CEE-5310A066DF1B}"/>
                  </a:ext>
                </a:extLst>
              </p:cNvPr>
              <p:cNvSpPr txBox="1"/>
              <p:nvPr/>
            </p:nvSpPr>
            <p:spPr>
              <a:xfrm>
                <a:off x="368960" y="1076890"/>
                <a:ext cx="7973568" cy="5415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>
                    <a:latin typeface="Bahnschrift SemiLight" panose="020B0502040204020203" pitchFamily="34" charset="0"/>
                  </a:rPr>
                  <a:t>Ibu Velly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meminjam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uang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Rp.25.000.000,-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18% per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.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Apabila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pembungaan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setiap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1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sekali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,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akumulasi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pada 6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pertama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!</a:t>
                </a:r>
              </a:p>
              <a:p>
                <a:pPr algn="just"/>
                <a:endParaRPr lang="en-US" sz="24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Rp.25.000.000,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=18% = 0,18,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m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12,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0,5</a:t>
                </a:r>
              </a:p>
              <a:p>
                <a:pPr algn="just"/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Periode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pembungaan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(m) = 12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karena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perhitungan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bunga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dilakukan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sebanyak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12 kali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dalam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setahun</a:t>
                </a:r>
                <a:r>
                  <a:rPr lang="en-US" sz="2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	= 25.000.000 ( 1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40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)</a:t>
                </a:r>
                <a:r>
                  <a:rPr lang="en-US" sz="2400" baseline="15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12x0,5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25.000.000 ( 1 + 0,015)</a:t>
                </a:r>
                <a:r>
                  <a:rPr lang="en-US" sz="2400" baseline="30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6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25.000.000 ( 1,015 )</a:t>
                </a:r>
                <a:r>
                  <a:rPr lang="en-US" sz="2400" baseline="30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6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25.000.000 ( 1,0934 ) = 27.335.000</a:t>
                </a: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nilai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akumulasi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pinjaman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/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kewajiban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Ibu Velly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selama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6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pertama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adalah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 27.335.000,-.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5A55F-2D15-91FF-2CEE-5310A066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60" y="1076890"/>
                <a:ext cx="7973568" cy="5415970"/>
              </a:xfrm>
              <a:prstGeom prst="rect">
                <a:avLst/>
              </a:prstGeom>
              <a:blipFill>
                <a:blip r:embed="rId2"/>
                <a:stretch>
                  <a:fillRect l="-1223" t="-901" r="-2217" b="-168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6DA159-63DF-F99A-D123-EA8D049F1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7" y="2328671"/>
            <a:ext cx="3236671" cy="32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3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4E35-0214-8799-C961-E8B56689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8965-D509-25D1-66D5-7DF2FF51F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298683"/>
            <a:ext cx="8951976" cy="1008909"/>
          </a:xfrm>
        </p:spPr>
        <p:txBody>
          <a:bodyPr>
            <a:normAutofit/>
          </a:bodyPr>
          <a:lstStyle/>
          <a:p>
            <a:r>
              <a:rPr lang="en-US" sz="4800" b="1" dirty="0"/>
              <a:t>Nilai </a:t>
            </a:r>
            <a:r>
              <a:rPr lang="en-US" sz="4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Sekarang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31E1AD-3B83-B4BF-B0FD-DEEDD7D568B9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0DFFC-5D1D-E5B0-E38D-CF623B7439D5}"/>
              </a:ext>
            </a:extLst>
          </p:cNvPr>
          <p:cNvSpPr txBox="1"/>
          <p:nvPr/>
        </p:nvSpPr>
        <p:spPr>
          <a:xfrm>
            <a:off x="502920" y="1755648"/>
            <a:ext cx="110764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latin typeface="Bahnschrift SemiLight" panose="020B0502040204020203" pitchFamily="34" charset="0"/>
              </a:rPr>
              <a:t>Seseorang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memiliki</a:t>
            </a:r>
            <a:r>
              <a:rPr lang="en-US" sz="3200" dirty="0">
                <a:latin typeface="Bahnschrift SemiLight" panose="020B0502040204020203" pitchFamily="34" charset="0"/>
              </a:rPr>
              <a:t> uang </a:t>
            </a:r>
            <a:r>
              <a:rPr lang="en-US" sz="3200" dirty="0" err="1">
                <a:latin typeface="Bahnschrift SemiLight" panose="020B0502040204020203" pitchFamily="34" charset="0"/>
              </a:rPr>
              <a:t>sebesar</a:t>
            </a:r>
            <a:r>
              <a:rPr lang="en-US" sz="3200" dirty="0">
                <a:latin typeface="Bahnschrift SemiLight" panose="020B0502040204020203" pitchFamily="34" charset="0"/>
              </a:rPr>
              <a:t> Rp.10.000.000,-. </a:t>
            </a:r>
            <a:r>
              <a:rPr lang="en-US" sz="3200" dirty="0" err="1">
                <a:latin typeface="Bahnschrift SemiLight" panose="020B0502040204020203" pitchFamily="34" charset="0"/>
              </a:rPr>
              <a:t>Kemudian</a:t>
            </a:r>
            <a:r>
              <a:rPr lang="en-US" sz="3200" dirty="0">
                <a:latin typeface="Bahnschrift SemiLight" panose="020B0502040204020203" pitchFamily="34" charset="0"/>
              </a:rPr>
              <a:t> uang </a:t>
            </a:r>
            <a:r>
              <a:rPr lang="en-US" sz="3200" dirty="0" err="1">
                <a:latin typeface="Bahnschrift SemiLight" panose="020B0502040204020203" pitchFamily="34" charset="0"/>
              </a:rPr>
              <a:t>tersebut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didepositokan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selama</a:t>
            </a:r>
            <a:r>
              <a:rPr lang="en-US" sz="3200" dirty="0">
                <a:latin typeface="Bahnschrift SemiLight" panose="020B0502040204020203" pitchFamily="34" charset="0"/>
              </a:rPr>
              <a:t> 2 </a:t>
            </a:r>
            <a:r>
              <a:rPr lang="en-US" sz="3200" dirty="0" err="1">
                <a:latin typeface="Bahnschrift SemiLight" panose="020B0502040204020203" pitchFamily="34" charset="0"/>
              </a:rPr>
              <a:t>tahun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tingkat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5% per </a:t>
            </a:r>
            <a:r>
              <a:rPr lang="en-US" sz="3200" dirty="0" err="1">
                <a:latin typeface="Bahnschrift SemiLight" panose="020B0502040204020203" pitchFamily="34" charset="0"/>
              </a:rPr>
              <a:t>tahun</a:t>
            </a:r>
            <a:r>
              <a:rPr lang="en-US" sz="3200" dirty="0">
                <a:latin typeface="Bahnschrift SemiLight" panose="020B0502040204020203" pitchFamily="34" charset="0"/>
              </a:rPr>
              <a:t>. Pada </a:t>
            </a:r>
            <a:r>
              <a:rPr lang="en-US" sz="3200" dirty="0" err="1">
                <a:latin typeface="Bahnschrift SemiLight" panose="020B0502040204020203" pitchFamily="34" charset="0"/>
              </a:rPr>
              <a:t>akhir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tahun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kedua</a:t>
            </a:r>
            <a:r>
              <a:rPr lang="en-US" sz="3200" dirty="0">
                <a:latin typeface="Bahnschrift SemiLight" panose="020B0502040204020203" pitchFamily="34" charset="0"/>
              </a:rPr>
              <a:t>, uang </a:t>
            </a:r>
            <a:r>
              <a:rPr lang="en-US" sz="3200" dirty="0" err="1">
                <a:latin typeface="Bahnschrift SemiLight" panose="020B0502040204020203" pitchFamily="34" charset="0"/>
              </a:rPr>
              <a:t>tersebut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menjadi</a:t>
            </a:r>
            <a:r>
              <a:rPr lang="en-US" sz="3200" dirty="0">
                <a:latin typeface="Bahnschrift SemiLight" panose="020B0502040204020203" pitchFamily="34" charset="0"/>
              </a:rPr>
              <a:t> Rp.11.025.000,-. Uang </a:t>
            </a:r>
            <a:r>
              <a:rPr lang="en-US" sz="32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Rp.11.025.000,- </a:t>
            </a:r>
            <a:r>
              <a:rPr lang="en-US" sz="3200" dirty="0" err="1">
                <a:latin typeface="Bahnschrift SemiLight" panose="020B0502040204020203" pitchFamily="34" charset="0"/>
              </a:rPr>
              <a:t>tersebut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dinamakan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nilai</a:t>
            </a:r>
            <a:r>
              <a:rPr lang="en-US" sz="3200" dirty="0">
                <a:latin typeface="Bahnschrift SemiLight" panose="020B0502040204020203" pitchFamily="34" charset="0"/>
              </a:rPr>
              <a:t> masa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i="1" dirty="0">
                <a:solidFill>
                  <a:srgbClr val="92D050"/>
                </a:solidFill>
                <a:latin typeface="Bahnschrift SemiLight" panose="020B0502040204020203" pitchFamily="34" charset="0"/>
              </a:rPr>
              <a:t>future value</a:t>
            </a:r>
            <a:r>
              <a:rPr lang="en-US" sz="3200" dirty="0">
                <a:latin typeface="Bahnschrift SemiLight" panose="020B0502040204020203" pitchFamily="34" charset="0"/>
              </a:rPr>
              <a:t>) </a:t>
            </a:r>
            <a:r>
              <a:rPr lang="en-US" sz="3200" dirty="0" err="1">
                <a:latin typeface="Bahnschrift SemiLight" panose="020B0502040204020203" pitchFamily="34" charset="0"/>
              </a:rPr>
              <a:t>dari</a:t>
            </a:r>
            <a:r>
              <a:rPr lang="en-US" sz="3200" dirty="0">
                <a:latin typeface="Bahnschrift SemiLight" panose="020B0502040204020203" pitchFamily="34" charset="0"/>
              </a:rPr>
              <a:t> uang </a:t>
            </a:r>
            <a:r>
              <a:rPr lang="en-US" sz="3200" dirty="0" err="1">
                <a:latin typeface="Bahnschrift SemiLight" panose="020B0502040204020203" pitchFamily="34" charset="0"/>
              </a:rPr>
              <a:t>sebesar</a:t>
            </a:r>
            <a:r>
              <a:rPr lang="en-US" sz="3200" dirty="0">
                <a:latin typeface="Bahnschrift SemiLight" panose="020B0502040204020203" pitchFamily="34" charset="0"/>
              </a:rPr>
              <a:t> Rp.10.000.000,- yang </a:t>
            </a:r>
            <a:r>
              <a:rPr lang="en-US" sz="3200" dirty="0" err="1">
                <a:latin typeface="Bahnschrift SemiLight" panose="020B0502040204020203" pitchFamily="34" charset="0"/>
              </a:rPr>
              <a:t>didepositokan</a:t>
            </a:r>
            <a:r>
              <a:rPr lang="en-US" sz="3200" dirty="0">
                <a:latin typeface="Bahnschrift SemiLight" panose="020B0502040204020203" pitchFamily="34" charset="0"/>
              </a:rPr>
              <a:t> di </a:t>
            </a:r>
            <a:r>
              <a:rPr lang="en-US" sz="3200" dirty="0" err="1">
                <a:latin typeface="Bahnschrift SemiLight" panose="020B0502040204020203" pitchFamily="34" charset="0"/>
              </a:rPr>
              <a:t>awal</a:t>
            </a:r>
            <a:r>
              <a:rPr lang="en-US" sz="3200" dirty="0">
                <a:latin typeface="Bahnschrift SemiLight" panose="020B0502040204020203" pitchFamily="34" charset="0"/>
              </a:rPr>
              <a:t>. </a:t>
            </a:r>
            <a:r>
              <a:rPr lang="en-US" sz="3200" dirty="0" err="1">
                <a:latin typeface="Bahnschrift SemiLight" panose="020B0502040204020203" pitchFamily="34" charset="0"/>
              </a:rPr>
              <a:t>Sementara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itu</a:t>
            </a:r>
            <a:r>
              <a:rPr lang="en-US" sz="3200" dirty="0">
                <a:latin typeface="Bahnschrift SemiLight" panose="020B0502040204020203" pitchFamily="34" charset="0"/>
              </a:rPr>
              <a:t> uang </a:t>
            </a:r>
            <a:r>
              <a:rPr lang="en-US" sz="32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Rp.10.000.000,-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adalah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nilai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sekarang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i="1" dirty="0">
                <a:solidFill>
                  <a:srgbClr val="FFFF00"/>
                </a:solidFill>
                <a:latin typeface="Bahnschrift SemiLight" panose="020B0502040204020203" pitchFamily="34" charset="0"/>
              </a:rPr>
              <a:t>present value</a:t>
            </a:r>
            <a:r>
              <a:rPr lang="en-US" sz="3200" dirty="0">
                <a:latin typeface="Bahnschrift SemiLight" panose="020B0502040204020203" pitchFamily="34" charset="0"/>
              </a:rPr>
              <a:t>) </a:t>
            </a:r>
            <a:r>
              <a:rPr lang="en-US" sz="3200" dirty="0" err="1">
                <a:latin typeface="Bahnschrift SemiLight" panose="020B0502040204020203" pitchFamily="34" charset="0"/>
              </a:rPr>
              <a:t>dari</a:t>
            </a:r>
            <a:r>
              <a:rPr lang="en-US" sz="3200" dirty="0">
                <a:latin typeface="Bahnschrift SemiLight" panose="020B0502040204020203" pitchFamily="34" charset="0"/>
              </a:rPr>
              <a:t> uang Rp.11.025.000,- di masa </a:t>
            </a:r>
            <a:r>
              <a:rPr lang="en-US" sz="3200" dirty="0" err="1">
                <a:latin typeface="Bahnschrift SemiLight" panose="020B0502040204020203" pitchFamily="34" charset="0"/>
              </a:rPr>
              <a:t>depan</a:t>
            </a:r>
            <a:r>
              <a:rPr lang="en-US" sz="3200" dirty="0">
                <a:latin typeface="Bahnschrift SemiLight" panose="020B0502040204020203" pitchFamily="34" charset="0"/>
              </a:rPr>
              <a:t>.</a:t>
            </a:r>
            <a:endParaRPr lang="en-ID" sz="3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66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116B-90CC-9A38-3EFA-80049F2D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3C83EC-8C81-E7DB-CF57-514149DF246F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C9BF86-E0F5-5FCC-E54D-68C06AE60883}"/>
                  </a:ext>
                </a:extLst>
              </p:cNvPr>
              <p:cNvSpPr txBox="1"/>
              <p:nvPr/>
            </p:nvSpPr>
            <p:spPr>
              <a:xfrm>
                <a:off x="563879" y="1664208"/>
                <a:ext cx="11320272" cy="4479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Bahnschrift SemiLight" panose="020B0502040204020203" pitchFamily="34" charset="0"/>
                  </a:rPr>
                  <a:t>Nilai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sekarang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dinyatakan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rumus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:</a:t>
                </a:r>
              </a:p>
              <a:p>
                <a:endParaRPr lang="en-US" sz="3200" i="1" dirty="0">
                  <a:latin typeface="Bahnschrift SemiLight" panose="020B0502040204020203" pitchFamily="34" charset="0"/>
                </a:endParaRPr>
              </a:p>
              <a:p>
                <a:r>
                  <a:rPr lang="en-US" sz="3200" i="1" dirty="0">
                    <a:latin typeface="Bahnschrift SemiLight" panose="020B0502040204020203" pitchFamily="34" charset="0"/>
                  </a:rPr>
                  <a:t>									</a:t>
                </a:r>
                <a:r>
                  <a:rPr lang="en-US" sz="4000" i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P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d>
                          <m:dPr>
                            <m:ctrlPr>
                              <a:rPr lang="en-US" sz="40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4000" b="0" i="1" smtClean="0">
                                <a:solidFill>
                                  <a:schemeClr val="accent3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4000" b="0" i="1" baseline="3000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3200" i="1" dirty="0">
                  <a:latin typeface="Bahnschrift SemiLight" panose="020B0502040204020203" pitchFamily="34" charset="0"/>
                </a:endParaRPr>
              </a:p>
              <a:p>
                <a:endParaRPr lang="en-US" sz="32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r>
                  <a:rPr lang="en-US" sz="32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Dimana:  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A</a:t>
                </a:r>
                <a:r>
                  <a:rPr lang="en-US" sz="3200" baseline="-25000" dirty="0">
                    <a:latin typeface="Bahnschrift SemiLight" panose="020B0502040204020203" pitchFamily="34" charset="0"/>
                  </a:rPr>
                  <a:t>	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=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akumulasi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pada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akhir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periode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ke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-n (Rp)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P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	=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pokok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(Rp)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r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=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tingkat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bunga (%)</a:t>
                </a:r>
              </a:p>
              <a:p>
                <a:r>
                  <a:rPr lang="en-US" sz="3200" dirty="0">
                    <a:latin typeface="Bahnschrift SemiLight" panose="020B0502040204020203" pitchFamily="34" charset="0"/>
                  </a:rPr>
                  <a:t>				</a:t>
                </a:r>
                <a:r>
                  <a:rPr lang="en-US" sz="3200" i="1" dirty="0">
                    <a:latin typeface="Bahnschrift SemiLight" panose="020B0502040204020203" pitchFamily="34" charset="0"/>
                  </a:rPr>
                  <a:t>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	= lama 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pinjaman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 (</a:t>
                </a:r>
                <a:r>
                  <a:rPr lang="en-US" sz="32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3200" dirty="0">
                    <a:latin typeface="Bahnschrift SemiLight" panose="020B0502040204020203" pitchFamily="34" charset="0"/>
                  </a:rPr>
                  <a:t>)</a:t>
                </a:r>
                <a:endParaRPr lang="en-ID" sz="3200" dirty="0">
                  <a:latin typeface="Bahnschrift Semi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C9BF86-E0F5-5FCC-E54D-68C06AE60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79" y="1664208"/>
                <a:ext cx="11320272" cy="4479881"/>
              </a:xfrm>
              <a:prstGeom prst="rect">
                <a:avLst/>
              </a:prstGeom>
              <a:blipFill>
                <a:blip r:embed="rId2"/>
                <a:stretch>
                  <a:fillRect l="-1346" t="-1905" b="-367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EFA14F30-231F-AD91-4971-8B9B7E2E7166}"/>
              </a:ext>
            </a:extLst>
          </p:cNvPr>
          <p:cNvSpPr txBox="1">
            <a:spLocks/>
          </p:cNvSpPr>
          <p:nvPr/>
        </p:nvSpPr>
        <p:spPr>
          <a:xfrm>
            <a:off x="502920" y="127491"/>
            <a:ext cx="9637776" cy="1008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dirty="0" err="1"/>
              <a:t>Rumus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Nilai </a:t>
            </a:r>
            <a:r>
              <a:rPr lang="en-US" sz="4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Sekarang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195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EF959-B3AD-8B58-18BB-3220DBA9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E8AA-FB60-A92B-A7C1-A6FBC87D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357422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nilai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sekarang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DE855F-4814-62A5-49F6-C95AB2D47A19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65CC6C-6C6E-DC2F-E837-BFB8C288B81D}"/>
                  </a:ext>
                </a:extLst>
              </p:cNvPr>
              <p:cNvSpPr txBox="1"/>
              <p:nvPr/>
            </p:nvSpPr>
            <p:spPr>
              <a:xfrm>
                <a:off x="301752" y="1046296"/>
                <a:ext cx="8549640" cy="5150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sekarang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dari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uang Rp.20.000.000,- pada 3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mendatang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suku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bunga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majemuk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 6% per </a:t>
                </a:r>
                <a:r>
                  <a:rPr lang="en-US" sz="2400" dirty="0" err="1"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latin typeface="Bahnschrift SemiLight" panose="020B0502040204020203" pitchFamily="34" charset="0"/>
                  </a:rPr>
                  <a:t>!</a:t>
                </a:r>
              </a:p>
              <a:p>
                <a:pPr algn="just"/>
                <a:endParaRPr lang="en-US" sz="24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Rp.20.000.000,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 6%=0,06,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3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tahun</a:t>
                </a:r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endParaRPr lang="en-US" sz="2400" i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 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d>
                          <m:dPr>
                            <m:ctrlP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i="1" baseline="3000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 baseline="3000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20.000.000</m:t>
                        </m:r>
                      </m:num>
                      <m:den>
                        <m:d>
                          <m:dPr>
                            <m:ctrlP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400" b="0" i="1" smtClean="0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0,06</m:t>
                            </m:r>
                          </m:e>
                        </m:d>
                        <m:r>
                          <a:rPr lang="en-US" sz="2400" b="0" i="1" baseline="30000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baseline="3000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20.000.000</m:t>
                        </m:r>
                      </m:num>
                      <m:den>
                        <m:d>
                          <m:dPr>
                            <m:ctrlP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1,06</m:t>
                            </m:r>
                          </m:e>
                        </m:d>
                        <m:r>
                          <a:rPr lang="en-US" sz="2400" i="1" baseline="3000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baseline="3000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20.000.000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1,19</m:t>
                        </m:r>
                      </m:den>
                    </m:f>
                    <m:r>
                      <a:rPr lang="en-US" sz="2400" i="1" baseline="3000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16.806.723</a:t>
                </a:r>
              </a:p>
              <a:p>
                <a:pPr algn="just"/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Jadi,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nilai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sekarang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dari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uang 3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tahun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mendatang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adalah</a:t>
                </a:r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 16.806.723,-.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65CC6C-6C6E-DC2F-E837-BFB8C288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1046296"/>
                <a:ext cx="8549640" cy="5150192"/>
              </a:xfrm>
              <a:prstGeom prst="rect">
                <a:avLst/>
              </a:prstGeom>
              <a:blipFill>
                <a:blip r:embed="rId2"/>
                <a:stretch>
                  <a:fillRect l="-1498" t="-1422" r="-2068" b="-17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266BDF4-1BE4-A405-9039-F54A9E192E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21" y="3171352"/>
            <a:ext cx="3300679" cy="33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67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696</TotalTime>
  <Words>1196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Bahnschrift</vt:lpstr>
      <vt:lpstr>Bahnschrift SemiLight</vt:lpstr>
      <vt:lpstr>Cambria Math</vt:lpstr>
      <vt:lpstr>Century Gothic</vt:lpstr>
      <vt:lpstr>Wingdings 3</vt:lpstr>
      <vt:lpstr>Ion</vt:lpstr>
      <vt:lpstr>Sesi 4 MATEMATIKA EKONOMI</vt:lpstr>
      <vt:lpstr>PowerPoint Presentation</vt:lpstr>
      <vt:lpstr>PowerPoint Presentation</vt:lpstr>
      <vt:lpstr>Minggu lalu kita telah mempelajari bunga tunggal</vt:lpstr>
      <vt:lpstr>Jenis Bunga Majemuk</vt:lpstr>
      <vt:lpstr>PowerPoint Presentation</vt:lpstr>
      <vt:lpstr>Contoh aplikasi bunga majemuk #1</vt:lpstr>
      <vt:lpstr>Contoh aplikasi bunga majemuk #2</vt:lpstr>
      <vt:lpstr>Lanjutan…</vt:lpstr>
      <vt:lpstr>Contoh aplikasi bunga majemuk #3</vt:lpstr>
      <vt:lpstr>Latihan Soal #1</vt:lpstr>
      <vt:lpstr>Jawaban Latihan Soal #1</vt:lpstr>
      <vt:lpstr>Nilai Sekarang</vt:lpstr>
      <vt:lpstr>PowerPoint Presentation</vt:lpstr>
      <vt:lpstr>Contoh aplikasi nilai sekarang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58</cp:revision>
  <dcterms:created xsi:type="dcterms:W3CDTF">2025-07-31T05:10:12Z</dcterms:created>
  <dcterms:modified xsi:type="dcterms:W3CDTF">2025-09-08T05:18:19Z</dcterms:modified>
</cp:coreProperties>
</file>